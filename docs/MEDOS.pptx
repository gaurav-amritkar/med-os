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979BE7E0-3DAF-64D8-69BC-74615A7C424C}">
          <p14:sldIdLst>
            <p14:sldId id="256"/>
          </p14:sldIdLst>
        </p14:section>
        <p14:section name="Decision" id="{FFC9CA78-AD18-9B7E-D375-B3C0AD9908A3}">
          <p14:sldIdLst>
            <p14:sldId id="257"/>
          </p14:sldIdLst>
        </p14:section>
        <p14:section name="Market" id="{02AFC957-D15F-C7DB-8721-FC685F00D90F}">
          <p14:sldIdLst>
            <p14:sldId id="258"/>
          </p14:sldIdLst>
        </p14:section>
        <p14:section name="Competition" id="{A1844B50-05BF-A906-FAF7-0C886F137C0B}">
          <p14:sldIdLst>
            <p14:sldId id="259"/>
          </p14:sldIdLst>
        </p14:section>
        <p14:section name="Product and economics" id="{1B07AB7D-3CB8-879E-D9C3-BE22A5497741}">
          <p14:sldIdLst>
            <p14:sldId id="260"/>
            <p14:sldId id="261"/>
          </p14:sldIdLst>
        </p14:section>
        <p14:section name="Risk" id="{89D168FE-1093-382D-CAD9-9A75F47E2739}">
          <p14:sldIdLst>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6" d="100"/>
          <a:sy n="76" d="100"/>
        </p:scale>
        <p:origin x="272"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000000"/>
                </a:solidFill>
                <a:latin typeface="+mn-lt"/>
              </a:defRPr>
            </a:pPr>
            <a:r>
              <a:rPr lang="en-IN" sz="1100" b="0" i="0" u="none" strike="noStrike">
                <a:solidFill>
                  <a:srgbClr val="000000"/>
                </a:solidFill>
                <a:latin typeface="+mn-lt"/>
              </a:rPr>
              <a:t>CAC payback in months — gate G6 requires 12 or fewer</a:t>
            </a:r>
          </a:p>
        </c:rich>
      </c:tx>
      <c:overlay val="0"/>
    </c:title>
    <c:autoTitleDeleted val="0"/>
    <c:plotArea>
      <c:layout/>
      <c:barChart>
        <c:barDir val="col"/>
        <c:grouping val="clustered"/>
        <c:varyColors val="0"/>
        <c:ser>
          <c:idx val="0"/>
          <c:order val="0"/>
          <c:tx>
            <c:strRef>
              <c:f>Sheet1!$B$1</c:f>
              <c:strCache>
                <c:ptCount val="1"/>
                <c:pt idx="0">
                  <c:v>CAC payback (months)</c:v>
                </c:pt>
              </c:strCache>
            </c:strRef>
          </c:tx>
          <c:spPr>
            <a:solidFill>
              <a:srgbClr val="BFBFBF"/>
            </a:solidFill>
            <a:ln w="9525" cap="flat">
              <a:solidFill>
                <a:srgbClr val="000000"/>
              </a:solidFill>
              <a:prstDash val="solid"/>
              <a:round/>
            </a:ln>
            <a:effectLst/>
          </c:spPr>
          <c:invertIfNegative val="0"/>
          <c:dLbls>
            <c:numFmt formatCode="0.0" sourceLinked="0"/>
            <c:spPr>
              <a:noFill/>
              <a:ln>
                <a:noFill/>
              </a:ln>
              <a:effectLst/>
            </c:spPr>
            <c:txPr>
              <a:bodyPr/>
              <a:lstStyle/>
              <a:p>
                <a:pPr>
                  <a:defRPr sz="1100" b="0" i="0" u="none" strike="noStrike">
                    <a:solidFill>
                      <a:srgbClr val="00000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Conservative</c:v>
                </c:pt>
                <c:pt idx="1">
                  <c:v>Base</c:v>
                </c:pt>
                <c:pt idx="2">
                  <c:v>Aggressive</c:v>
                </c:pt>
              </c:strCache>
            </c:strRef>
          </c:cat>
          <c:val>
            <c:numRef>
              <c:f>Sheet1!$B$2:$B$4</c:f>
              <c:numCache>
                <c:formatCode>General</c:formatCode>
                <c:ptCount val="3"/>
                <c:pt idx="0">
                  <c:v>23.1</c:v>
                </c:pt>
                <c:pt idx="1">
                  <c:v>8</c:v>
                </c:pt>
                <c:pt idx="2">
                  <c:v>4.4000000000000004</c:v>
                </c:pt>
              </c:numCache>
            </c:numRef>
          </c:val>
          <c:extLst>
            <c:ext xmlns:c16="http://schemas.microsoft.com/office/drawing/2014/chart" uri="{C3380CC4-5D6E-409C-BE32-E72D297353CC}">
              <c16:uniqueId val="{00000000-C6D2-4F10-8F87-B88D1A3A0272}"/>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95959"/>
                </a:solidFill>
                <a:latin typeface="+mn-lt"/>
              </a:defRPr>
            </a:pPr>
            <a:endParaRPr lang="en-US"/>
          </a:p>
        </c:txPr>
        <c:crossAx val="2094734552"/>
        <c:crosses val="autoZero"/>
        <c:auto val="1"/>
        <c:lblAlgn val="ctr"/>
        <c:lblOffset val="100"/>
        <c:noMultiLvlLbl val="1"/>
      </c:catAx>
      <c:valAx>
        <c:axId val="2094734552"/>
        <c:scaling>
          <c:orientation val="minMax"/>
          <c:max val="25"/>
          <c:min val="0"/>
        </c:scaling>
        <c:delete val="0"/>
        <c:axPos val="l"/>
        <c:majorGridlines>
          <c:spPr>
            <a:ln w="6350" cap="flat">
              <a:solidFill>
                <a:srgbClr val="E8E8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95959"/>
                </a:solidFill>
                <a:latin typeface="+mn-lt"/>
              </a:defRPr>
            </a:pPr>
            <a:endParaRPr lang="en-US"/>
          </a:p>
        </c:txPr>
        <c:crossAx val="2094734554"/>
        <c:crosses val="autoZero"/>
        <c:crossBetween val="between"/>
        <c:majorUnit val="5"/>
      </c:valAx>
      <c:spPr>
        <a:solidFill>
          <a:srgbClr val="FFFFFF"/>
        </a:solidFill>
        <a:ln w="9525" cap="flat">
          <a:solidFill>
            <a:srgbClr val="D9D9D9"/>
          </a:solid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38938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457200"/>
          </a:xfrm>
          <a:prstGeom prst="rect">
            <a:avLst/>
          </a:prstGeom>
          <a:noFill/>
          <a:ln/>
        </p:spPr>
        <p:txBody>
          <a:bodyPr wrap="square" rtlCol="0"/>
          <a:lstStyle>
            <a:lvl1pPr marL="0" indent="0" algn="l">
              <a:buNone/>
              <a:defRPr lang="en-US" sz="2200" b="1" dirty="0">
                <a:solidFill>
                  <a:srgbClr val="000000"/>
                </a:solidFill>
                <a:latin typeface="Arial" pitchFamily="34" charset="0"/>
                <a:ea typeface="Arial" pitchFamily="34" charset="-122"/>
                <a:cs typeface="Arial" pitchFamily="34" charset="-120"/>
              </a:defRPr>
            </a:lvl1pPr>
          </a:lstStyle>
          <a:p>
            <a:pPr marL="0" indent="0" algn="l">
              <a:buNone/>
            </a:pPr>
            <a:endParaRPr lang="en-US" sz="2200" dirty="0"/>
          </a:p>
        </p:txBody>
      </p:sp>
      <p:sp>
        <p:nvSpPr>
          <p:cNvPr id="3" name="Shape 0"/>
          <p:cNvSpPr/>
          <p:nvPr/>
        </p:nvSpPr>
        <p:spPr>
          <a:xfrm>
            <a:off x="548640" y="914400"/>
            <a:ext cx="11094415" cy="0"/>
          </a:xfrm>
          <a:prstGeom prst="line">
            <a:avLst/>
          </a:prstGeom>
          <a:noFill/>
          <a:ln w="12700">
            <a:solidFill>
              <a:srgbClr val="000000"/>
            </a:solidFill>
            <a:prstDash val="solid"/>
          </a:ln>
        </p:spPr>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713232"/>
            <a:ext cx="9144000" cy="256032"/>
          </a:xfrm>
          <a:prstGeom prst="rect">
            <a:avLst/>
          </a:prstGeom>
          <a:noFill/>
          <a:ln/>
        </p:spPr>
        <p:txBody>
          <a:bodyPr wrap="square" lIns="0" tIns="0" rIns="0" bIns="0" rtlCol="0" anchor="ctr"/>
          <a:lstStyle/>
          <a:p>
            <a:pPr marL="0" indent="0">
              <a:buNone/>
            </a:pPr>
            <a:r>
              <a:rPr lang="en-US" sz="1000" b="1" kern="0" spc="200" dirty="0">
                <a:solidFill>
                  <a:srgbClr val="595959"/>
                </a:solidFill>
                <a:latin typeface="Arial" pitchFamily="34" charset="0"/>
                <a:ea typeface="Arial" pitchFamily="34" charset="-122"/>
                <a:cs typeface="Arial" pitchFamily="34" charset="-120"/>
              </a:rPr>
              <a:t>INVESTMENT RESEARCH  |  COMPETITIVE INTELLIGENCE  |  90-DAY VALIDATION</a:t>
            </a:r>
            <a:endParaRPr lang="en-US" sz="1000" dirty="0"/>
          </a:p>
        </p:txBody>
      </p:sp>
      <p:sp>
        <p:nvSpPr>
          <p:cNvPr id="3" name="Text 1"/>
          <p:cNvSpPr txBox="1"/>
          <p:nvPr/>
        </p:nvSpPr>
        <p:spPr>
          <a:xfrm>
            <a:off x="548640" y="1115568"/>
            <a:ext cx="7315200" cy="1188720"/>
          </a:xfrm>
          <a:prstGeom prst="rect">
            <a:avLst/>
          </a:prstGeom>
          <a:noFill/>
          <a:ln/>
        </p:spPr>
        <p:txBody>
          <a:bodyPr wrap="square" lIns="0" tIns="0" rIns="0" bIns="0" rtlCol="0" anchor="ctr"/>
          <a:lstStyle/>
          <a:p>
            <a:pPr marL="0" indent="0">
              <a:buNone/>
            </a:pPr>
            <a:r>
              <a:rPr lang="en-US" sz="6000" b="1" dirty="0">
                <a:solidFill>
                  <a:srgbClr val="000000"/>
                </a:solidFill>
                <a:latin typeface="Arial" pitchFamily="34" charset="0"/>
                <a:ea typeface="Arial" pitchFamily="34" charset="-122"/>
                <a:cs typeface="Arial" pitchFamily="34" charset="-120"/>
              </a:rPr>
              <a:t>MEDOS</a:t>
            </a:r>
            <a:endParaRPr lang="en-US" sz="6000" dirty="0"/>
          </a:p>
        </p:txBody>
      </p:sp>
      <p:sp>
        <p:nvSpPr>
          <p:cNvPr id="4" name="Shape 2"/>
          <p:cNvSpPr/>
          <p:nvPr/>
        </p:nvSpPr>
        <p:spPr>
          <a:xfrm>
            <a:off x="548640" y="2560320"/>
            <a:ext cx="11094415" cy="0"/>
          </a:xfrm>
          <a:prstGeom prst="line">
            <a:avLst/>
          </a:prstGeom>
          <a:noFill/>
          <a:ln w="12700">
            <a:solidFill>
              <a:srgbClr val="000000"/>
            </a:solidFill>
            <a:prstDash val="solid"/>
          </a:ln>
        </p:spPr>
      </p:sp>
      <p:sp>
        <p:nvSpPr>
          <p:cNvPr id="5" name="Shape 3"/>
          <p:cNvSpPr/>
          <p:nvPr/>
        </p:nvSpPr>
        <p:spPr>
          <a:xfrm>
            <a:off x="548640" y="2926080"/>
            <a:ext cx="11094415" cy="960120"/>
          </a:xfrm>
          <a:prstGeom prst="rect">
            <a:avLst/>
          </a:prstGeom>
          <a:solidFill>
            <a:srgbClr val="F2F2F2"/>
          </a:solidFill>
          <a:ln/>
        </p:spPr>
      </p:sp>
      <p:sp>
        <p:nvSpPr>
          <p:cNvPr id="6" name="Text 4"/>
          <p:cNvSpPr txBox="1"/>
          <p:nvPr/>
        </p:nvSpPr>
        <p:spPr>
          <a:xfrm>
            <a:off x="777240" y="3090672"/>
            <a:ext cx="5486400" cy="365760"/>
          </a:xfrm>
          <a:prstGeom prst="rect">
            <a:avLst/>
          </a:prstGeom>
          <a:noFill/>
          <a:ln/>
        </p:spPr>
        <p:txBody>
          <a:bodyPr wrap="square" lIns="0" tIns="0" rIns="0" bIns="0" rtlCol="0" anchor="ctr"/>
          <a:lstStyle/>
          <a:p>
            <a:pPr marL="0" indent="0">
              <a:buNone/>
            </a:pPr>
            <a:r>
              <a:rPr lang="en-US" sz="2200" b="1" dirty="0">
                <a:solidFill>
                  <a:srgbClr val="000000"/>
                </a:solidFill>
                <a:latin typeface="Arial" pitchFamily="34" charset="0"/>
                <a:ea typeface="Arial" pitchFamily="34" charset="-122"/>
                <a:cs typeface="Arial" pitchFamily="34" charset="-120"/>
              </a:rPr>
              <a:t>CONDITIONAL GO</a:t>
            </a:r>
            <a:endParaRPr lang="en-US" sz="2200" dirty="0"/>
          </a:p>
        </p:txBody>
      </p:sp>
      <p:sp>
        <p:nvSpPr>
          <p:cNvPr id="7" name="Text 5"/>
          <p:cNvSpPr txBox="1"/>
          <p:nvPr/>
        </p:nvSpPr>
        <p:spPr>
          <a:xfrm>
            <a:off x="777240" y="3502152"/>
            <a:ext cx="8229600" cy="256032"/>
          </a:xfrm>
          <a:prstGeom prst="rect">
            <a:avLst/>
          </a:prstGeom>
          <a:noFill/>
          <a:ln/>
        </p:spPr>
        <p:txBody>
          <a:bodyPr wrap="square" lIns="0" tIns="0" rIns="0" bIns="0" rtlCol="0" anchor="ctr"/>
          <a:lstStyle/>
          <a:p>
            <a:pPr marL="0" indent="0">
              <a:buNone/>
            </a:pPr>
            <a:r>
              <a:rPr lang="en-US" sz="1100" dirty="0">
                <a:solidFill>
                  <a:srgbClr val="595959"/>
                </a:solidFill>
                <a:latin typeface="Arial" pitchFamily="34" charset="0"/>
                <a:ea typeface="Arial" pitchFamily="34" charset="-122"/>
                <a:cs typeface="Arial" pitchFamily="34" charset="-120"/>
              </a:rPr>
              <a:t>Narrow discovery scope only. Hospital OS deferred.</a:t>
            </a:r>
            <a:endParaRPr lang="en-US" sz="1100" dirty="0"/>
          </a:p>
        </p:txBody>
      </p:sp>
      <p:sp>
        <p:nvSpPr>
          <p:cNvPr id="8" name="Shape 6"/>
          <p:cNvSpPr/>
          <p:nvPr/>
        </p:nvSpPr>
        <p:spPr>
          <a:xfrm>
            <a:off x="548640" y="4297680"/>
            <a:ext cx="5396332" cy="1783080"/>
          </a:xfrm>
          <a:prstGeom prst="rect">
            <a:avLst/>
          </a:prstGeom>
          <a:solidFill>
            <a:srgbClr val="FFFFFF"/>
          </a:solidFill>
          <a:ln w="9525">
            <a:solidFill>
              <a:srgbClr val="D9D9D9"/>
            </a:solidFill>
            <a:prstDash val="solid"/>
          </a:ln>
        </p:spPr>
      </p:sp>
      <p:sp>
        <p:nvSpPr>
          <p:cNvPr id="9" name="Text 7"/>
          <p:cNvSpPr txBox="1"/>
          <p:nvPr/>
        </p:nvSpPr>
        <p:spPr>
          <a:xfrm>
            <a:off x="804672" y="4526280"/>
            <a:ext cx="4884268" cy="237744"/>
          </a:xfrm>
          <a:prstGeom prst="rect">
            <a:avLst/>
          </a:prstGeom>
          <a:noFill/>
          <a:ln/>
        </p:spPr>
        <p:txBody>
          <a:bodyPr wrap="square" lIns="0" tIns="0" rIns="0" bIns="0" rtlCol="0" anchor="ctr"/>
          <a:lstStyle/>
          <a:p>
            <a:pPr marL="0" indent="0">
              <a:buNone/>
            </a:pPr>
            <a:r>
              <a:rPr lang="en-US" sz="900" b="1" kern="0" spc="150" dirty="0">
                <a:solidFill>
                  <a:srgbClr val="595959"/>
                </a:solidFill>
                <a:latin typeface="Arial" pitchFamily="34" charset="0"/>
                <a:ea typeface="Arial" pitchFamily="34" charset="-122"/>
                <a:cs typeface="Arial" pitchFamily="34" charset="-120"/>
              </a:rPr>
              <a:t>PAYING CUSTOMERS TODAY</a:t>
            </a:r>
            <a:endParaRPr lang="en-US" sz="900" dirty="0"/>
          </a:p>
        </p:txBody>
      </p:sp>
      <p:sp>
        <p:nvSpPr>
          <p:cNvPr id="10" name="Text 8"/>
          <p:cNvSpPr txBox="1"/>
          <p:nvPr/>
        </p:nvSpPr>
        <p:spPr>
          <a:xfrm>
            <a:off x="804672" y="4828032"/>
            <a:ext cx="4884268" cy="685800"/>
          </a:xfrm>
          <a:prstGeom prst="rect">
            <a:avLst/>
          </a:prstGeom>
          <a:noFill/>
          <a:ln/>
        </p:spPr>
        <p:txBody>
          <a:bodyPr wrap="square" lIns="0" tIns="0" rIns="0" bIns="0" rtlCol="0" anchor="ctr"/>
          <a:lstStyle/>
          <a:p>
            <a:pPr marL="0" indent="0">
              <a:buNone/>
            </a:pPr>
            <a:r>
              <a:rPr lang="en-US" sz="4400" b="1" dirty="0">
                <a:solidFill>
                  <a:srgbClr val="000000"/>
                </a:solidFill>
                <a:latin typeface="Arial" pitchFamily="34" charset="0"/>
                <a:ea typeface="Arial" pitchFamily="34" charset="-122"/>
                <a:cs typeface="Arial" pitchFamily="34" charset="-120"/>
              </a:rPr>
              <a:t>0</a:t>
            </a:r>
            <a:endParaRPr lang="en-US" sz="4400" dirty="0"/>
          </a:p>
        </p:txBody>
      </p:sp>
      <p:sp>
        <p:nvSpPr>
          <p:cNvPr id="11" name="Text 9"/>
          <p:cNvSpPr txBox="1"/>
          <p:nvPr/>
        </p:nvSpPr>
        <p:spPr>
          <a:xfrm>
            <a:off x="804672" y="5559552"/>
            <a:ext cx="4884268" cy="365760"/>
          </a:xfrm>
          <a:prstGeom prst="rect">
            <a:avLst/>
          </a:prstGeom>
          <a:noFill/>
          <a:ln/>
        </p:spPr>
        <p:txBody>
          <a:bodyPr wrap="square" lIns="0" tIns="0" rIns="0" bIns="0" rtlCol="0" anchor="ctr"/>
          <a:lstStyle/>
          <a:p>
            <a:pPr marL="0" indent="0">
              <a:buNone/>
            </a:pPr>
            <a:r>
              <a:rPr lang="en-US" sz="1100" dirty="0">
                <a:solidFill>
                  <a:srgbClr val="595959"/>
                </a:solidFill>
                <a:latin typeface="Arial" pitchFamily="34" charset="0"/>
                <a:ea typeface="Arial" pitchFamily="34" charset="-122"/>
                <a:cs typeface="Arial" pitchFamily="34" charset="-120"/>
              </a:rPr>
              <a:t>No invoices, no cohorts, no retention data</a:t>
            </a:r>
            <a:endParaRPr lang="en-US" sz="1100" dirty="0"/>
          </a:p>
        </p:txBody>
      </p:sp>
      <p:sp>
        <p:nvSpPr>
          <p:cNvPr id="12" name="Shape 10"/>
          <p:cNvSpPr/>
          <p:nvPr/>
        </p:nvSpPr>
        <p:spPr>
          <a:xfrm>
            <a:off x="6246724" y="4297680"/>
            <a:ext cx="5396332" cy="1783080"/>
          </a:xfrm>
          <a:prstGeom prst="rect">
            <a:avLst/>
          </a:prstGeom>
          <a:solidFill>
            <a:srgbClr val="FFFFFF"/>
          </a:solidFill>
          <a:ln w="9525">
            <a:solidFill>
              <a:srgbClr val="D9D9D9"/>
            </a:solidFill>
            <a:prstDash val="solid"/>
          </a:ln>
        </p:spPr>
      </p:sp>
      <p:sp>
        <p:nvSpPr>
          <p:cNvPr id="13" name="Text 11"/>
          <p:cNvSpPr txBox="1"/>
          <p:nvPr/>
        </p:nvSpPr>
        <p:spPr>
          <a:xfrm>
            <a:off x="6502756" y="4526280"/>
            <a:ext cx="4884268" cy="237744"/>
          </a:xfrm>
          <a:prstGeom prst="rect">
            <a:avLst/>
          </a:prstGeom>
          <a:noFill/>
          <a:ln/>
        </p:spPr>
        <p:txBody>
          <a:bodyPr wrap="square" lIns="0" tIns="0" rIns="0" bIns="0" rtlCol="0" anchor="ctr"/>
          <a:lstStyle/>
          <a:p>
            <a:pPr marL="0" indent="0">
              <a:buNone/>
            </a:pPr>
            <a:r>
              <a:rPr lang="en-US" sz="900" b="1" kern="0" spc="150" dirty="0">
                <a:solidFill>
                  <a:srgbClr val="595959"/>
                </a:solidFill>
                <a:latin typeface="Arial" pitchFamily="34" charset="0"/>
                <a:ea typeface="Arial" pitchFamily="34" charset="-122"/>
                <a:cs typeface="Arial" pitchFamily="34" charset="-120"/>
              </a:rPr>
              <a:t>DAYS TO FIRST PROOF</a:t>
            </a:r>
            <a:endParaRPr lang="en-US" sz="900" dirty="0"/>
          </a:p>
        </p:txBody>
      </p:sp>
      <p:sp>
        <p:nvSpPr>
          <p:cNvPr id="14" name="Text 12"/>
          <p:cNvSpPr txBox="1"/>
          <p:nvPr/>
        </p:nvSpPr>
        <p:spPr>
          <a:xfrm>
            <a:off x="6502756" y="4828032"/>
            <a:ext cx="4884268" cy="685800"/>
          </a:xfrm>
          <a:prstGeom prst="rect">
            <a:avLst/>
          </a:prstGeom>
          <a:noFill/>
          <a:ln/>
        </p:spPr>
        <p:txBody>
          <a:bodyPr wrap="square" lIns="0" tIns="0" rIns="0" bIns="0" rtlCol="0" anchor="ctr"/>
          <a:lstStyle/>
          <a:p>
            <a:pPr marL="0" indent="0">
              <a:buNone/>
            </a:pPr>
            <a:r>
              <a:rPr lang="en-US" sz="4400" b="1" dirty="0">
                <a:solidFill>
                  <a:srgbClr val="000000"/>
                </a:solidFill>
                <a:latin typeface="Arial" pitchFamily="34" charset="0"/>
                <a:ea typeface="Arial" pitchFamily="34" charset="-122"/>
                <a:cs typeface="Arial" pitchFamily="34" charset="-120"/>
              </a:rPr>
              <a:t>90</a:t>
            </a:r>
            <a:endParaRPr lang="en-US" sz="4400" dirty="0"/>
          </a:p>
        </p:txBody>
      </p:sp>
      <p:sp>
        <p:nvSpPr>
          <p:cNvPr id="15" name="Text 13"/>
          <p:cNvSpPr txBox="1"/>
          <p:nvPr/>
        </p:nvSpPr>
        <p:spPr>
          <a:xfrm>
            <a:off x="6502756" y="5559552"/>
            <a:ext cx="4884268" cy="365760"/>
          </a:xfrm>
          <a:prstGeom prst="rect">
            <a:avLst/>
          </a:prstGeom>
          <a:noFill/>
          <a:ln/>
        </p:spPr>
        <p:txBody>
          <a:bodyPr wrap="square" lIns="0" tIns="0" rIns="0" bIns="0" rtlCol="0" anchor="ctr"/>
          <a:lstStyle/>
          <a:p>
            <a:pPr marL="0" indent="0">
              <a:buNone/>
            </a:pPr>
            <a:r>
              <a:rPr lang="en-US" sz="1100" dirty="0">
                <a:solidFill>
                  <a:srgbClr val="595959"/>
                </a:solidFill>
                <a:latin typeface="Arial" pitchFamily="34" charset="0"/>
                <a:ea typeface="Arial" pitchFamily="34" charset="-122"/>
                <a:cs typeface="Arial" pitchFamily="34" charset="-120"/>
              </a:rPr>
              <a:t>Four gates, ten paid pilots, zero capital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457200"/>
          </a:xfrm>
          <a:prstGeom prst="rect">
            <a:avLst/>
          </a:prstGeom>
          <a:noFill/>
          <a:ln/>
        </p:spPr>
        <p:txBody>
          <a:bodyPr wrap="square" lIns="0" tIns="0" rIns="0" bIns="0" rtlCol="0" anchor="ctr"/>
          <a:lstStyle/>
          <a:p>
            <a:pPr marL="0" indent="0" algn="l">
              <a:buNone/>
            </a:pPr>
            <a:r>
              <a:rPr lang="en-US" sz="2200" b="1" dirty="0">
                <a:solidFill>
                  <a:srgbClr val="000000"/>
                </a:solidFill>
                <a:latin typeface="Arial" pitchFamily="34" charset="0"/>
                <a:ea typeface="Arial" pitchFamily="34" charset="-122"/>
                <a:cs typeface="Arial" pitchFamily="34" charset="-120"/>
              </a:rPr>
              <a:t>The decision, in one page</a:t>
            </a:r>
            <a:endParaRPr lang="en-US" sz="2200" dirty="0"/>
          </a:p>
        </p:txBody>
      </p:sp>
      <p:sp>
        <p:nvSpPr>
          <p:cNvPr id="3" name="Shape 1"/>
          <p:cNvSpPr/>
          <p:nvPr/>
        </p:nvSpPr>
        <p:spPr>
          <a:xfrm>
            <a:off x="548640" y="1115568"/>
            <a:ext cx="5396332" cy="1097280"/>
          </a:xfrm>
          <a:prstGeom prst="rect">
            <a:avLst/>
          </a:prstGeom>
          <a:solidFill>
            <a:srgbClr val="FFFFFF"/>
          </a:solidFill>
          <a:ln w="9525">
            <a:solidFill>
              <a:srgbClr val="D9D9D9"/>
            </a:solidFill>
            <a:prstDash val="solid"/>
          </a:ln>
        </p:spPr>
      </p:sp>
      <p:sp>
        <p:nvSpPr>
          <p:cNvPr id="4" name="Text 2"/>
          <p:cNvSpPr txBox="1"/>
          <p:nvPr/>
        </p:nvSpPr>
        <p:spPr>
          <a:xfrm>
            <a:off x="749808" y="1261872"/>
            <a:ext cx="4993996" cy="201168"/>
          </a:xfrm>
          <a:prstGeom prst="rect">
            <a:avLst/>
          </a:prstGeom>
          <a:noFill/>
          <a:ln/>
        </p:spPr>
        <p:txBody>
          <a:bodyPr wrap="square" lIns="0" tIns="0" rIns="0" bIns="0" rtlCol="0" anchor="ctr"/>
          <a:lstStyle/>
          <a:p>
            <a:pPr marL="0" indent="0">
              <a:buNone/>
            </a:pPr>
            <a:r>
              <a:rPr lang="en-US" sz="900" b="1" kern="0" spc="150" dirty="0">
                <a:solidFill>
                  <a:srgbClr val="595959"/>
                </a:solidFill>
                <a:latin typeface="Arial" pitchFamily="34" charset="0"/>
                <a:ea typeface="Arial" pitchFamily="34" charset="-122"/>
                <a:cs typeface="Arial" pitchFamily="34" charset="-120"/>
              </a:rPr>
              <a:t>THE INVESTOR READ</a:t>
            </a:r>
            <a:endParaRPr lang="en-US" sz="900" dirty="0"/>
          </a:p>
        </p:txBody>
      </p:sp>
      <p:sp>
        <p:nvSpPr>
          <p:cNvPr id="5" name="Text 3"/>
          <p:cNvSpPr txBox="1"/>
          <p:nvPr/>
        </p:nvSpPr>
        <p:spPr>
          <a:xfrm>
            <a:off x="749808" y="1517904"/>
            <a:ext cx="4993996" cy="621792"/>
          </a:xfrm>
          <a:prstGeom prst="rect">
            <a:avLst/>
          </a:prstGeom>
          <a:noFill/>
          <a:ln/>
        </p:spPr>
        <p:txBody>
          <a:bodyPr wrap="square" lIns="0" tIns="0" rIns="0" bIns="0" rtlCol="0" anchor="ctr"/>
          <a:lstStyle/>
          <a:p>
            <a:pPr marL="0" indent="0">
              <a:lnSpc>
                <a:spcPct val="110000"/>
              </a:lnSpc>
              <a:buNone/>
            </a:pPr>
            <a:r>
              <a:rPr lang="en-US" sz="1000" dirty="0">
                <a:solidFill>
                  <a:srgbClr val="000000"/>
                </a:solidFill>
                <a:latin typeface="Arial" pitchFamily="34" charset="0"/>
                <a:ea typeface="Arial" pitchFamily="34" charset="-122"/>
                <a:cs typeface="Arial" pitchFamily="34" charset="-120"/>
              </a:rPr>
              <a:t>A live category The opportunity is real; MEDOS-specific product-market fit is unproven. Low conviction on this company, higher confidence that the need exists.</a:t>
            </a:r>
            <a:endParaRPr lang="en-US" sz="1000" dirty="0"/>
          </a:p>
        </p:txBody>
      </p:sp>
      <p:sp>
        <p:nvSpPr>
          <p:cNvPr id="6" name="Shape 4"/>
          <p:cNvSpPr/>
          <p:nvPr/>
        </p:nvSpPr>
        <p:spPr>
          <a:xfrm>
            <a:off x="6246724" y="1115568"/>
            <a:ext cx="5396332" cy="1097280"/>
          </a:xfrm>
          <a:prstGeom prst="rect">
            <a:avLst/>
          </a:prstGeom>
          <a:solidFill>
            <a:srgbClr val="FFFFFF"/>
          </a:solidFill>
          <a:ln w="9525">
            <a:solidFill>
              <a:srgbClr val="D9D9D9"/>
            </a:solidFill>
            <a:prstDash val="solid"/>
          </a:ln>
        </p:spPr>
      </p:sp>
      <p:sp>
        <p:nvSpPr>
          <p:cNvPr id="7" name="Text 5"/>
          <p:cNvSpPr txBox="1"/>
          <p:nvPr/>
        </p:nvSpPr>
        <p:spPr>
          <a:xfrm>
            <a:off x="6447892" y="1261872"/>
            <a:ext cx="4993996" cy="201168"/>
          </a:xfrm>
          <a:prstGeom prst="rect">
            <a:avLst/>
          </a:prstGeom>
          <a:noFill/>
          <a:ln/>
        </p:spPr>
        <p:txBody>
          <a:bodyPr wrap="square" lIns="0" tIns="0" rIns="0" bIns="0" rtlCol="0" anchor="ctr"/>
          <a:lstStyle/>
          <a:p>
            <a:pPr marL="0" indent="0">
              <a:buNone/>
            </a:pPr>
            <a:r>
              <a:rPr lang="en-US" sz="900" b="1" kern="0" spc="150" dirty="0">
                <a:solidFill>
                  <a:srgbClr val="595959"/>
                </a:solidFill>
                <a:latin typeface="Arial" pitchFamily="34" charset="0"/>
                <a:ea typeface="Arial" pitchFamily="34" charset="-122"/>
                <a:cs typeface="Arial" pitchFamily="34" charset="-120"/>
              </a:rPr>
              <a:t>THE OPERATOR READ</a:t>
            </a:r>
            <a:endParaRPr lang="en-US" sz="900" dirty="0"/>
          </a:p>
        </p:txBody>
      </p:sp>
      <p:sp>
        <p:nvSpPr>
          <p:cNvPr id="8" name="Text 6"/>
          <p:cNvSpPr txBox="1"/>
          <p:nvPr/>
        </p:nvSpPr>
        <p:spPr>
          <a:xfrm>
            <a:off x="6447892" y="1517904"/>
            <a:ext cx="4993996" cy="621792"/>
          </a:xfrm>
          <a:prstGeom prst="rect">
            <a:avLst/>
          </a:prstGeom>
          <a:noFill/>
          <a:ln/>
        </p:spPr>
        <p:txBody>
          <a:bodyPr wrap="square" lIns="0" tIns="0" rIns="0" bIns="0" rtlCol="0" anchor="ctr"/>
          <a:lstStyle/>
          <a:p>
            <a:pPr marL="0" indent="0">
              <a:lnSpc>
                <a:spcPct val="110000"/>
              </a:lnSpc>
              <a:buNone/>
            </a:pPr>
            <a:r>
              <a:rPr lang="en-US" sz="1000" dirty="0">
                <a:solidFill>
                  <a:srgbClr val="000000"/>
                </a:solidFill>
                <a:latin typeface="Arial" pitchFamily="34" charset="0"/>
                <a:ea typeface="Arial" pitchFamily="34" charset="-122"/>
                <a:cs typeface="Arial" pitchFamily="34" charset="-120"/>
              </a:rPr>
              <a:t>Scope is decided: 2 to 10 doctor independent OPD clinics, visit-to-cash workflow. What is undecided is whether owners pay for it. Do not add modules until ten clinics pay and eight use it weekly.</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450592"/>
          <a:ext cx="11094415" cy="2596896"/>
        </p:xfrm>
        <a:graphic>
          <a:graphicData uri="http://schemas.openxmlformats.org/drawingml/2006/table">
            <a:tbl>
              <a:tblPr/>
              <a:tblGrid>
                <a:gridCol w="1371600">
                  <a:extLst>
                    <a:ext uri="{9D8B030D-6E8A-4147-A177-3AD203B41FA5}">
                      <a16:colId xmlns:a16="http://schemas.microsoft.com/office/drawing/2014/main" val="20000"/>
                    </a:ext>
                  </a:extLst>
                </a:gridCol>
                <a:gridCol w="39776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3001975">
                  <a:extLst>
                    <a:ext uri="{9D8B030D-6E8A-4147-A177-3AD203B41FA5}">
                      <a16:colId xmlns:a16="http://schemas.microsoft.com/office/drawing/2014/main" val="20003"/>
                    </a:ext>
                  </a:extLst>
                </a:gridCol>
              </a:tblGrid>
              <a:tr h="324612">
                <a:tc>
                  <a:txBody>
                    <a:bodyPr/>
                    <a:lstStyle/>
                    <a:p>
                      <a:pPr marL="0" indent="0" algn="l">
                        <a:buNone/>
                      </a:pPr>
                      <a:r>
                        <a:rPr lang="en-US" sz="950" b="1" dirty="0">
                          <a:solidFill>
                            <a:srgbClr val="000000"/>
                          </a:solidFill>
                          <a:latin typeface="Arial" pitchFamily="34" charset="0"/>
                          <a:ea typeface="Arial" pitchFamily="34" charset="-122"/>
                          <a:cs typeface="Arial" pitchFamily="34" charset="-120"/>
                        </a:rPr>
                        <a:t>Dimension</a:t>
                      </a:r>
                      <a:endParaRPr lang="en-US" sz="950" dirty="0">
                        <a:latin typeface="Arial" charset="0"/>
                        <a:ea typeface="Arial" charset="0"/>
                        <a:cs typeface="Arial" charset="0"/>
                      </a:endParaRPr>
                    </a:p>
                  </a:txBody>
                  <a:tcPr marL="73152" marR="73152"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marL="0" indent="0" algn="l">
                        <a:buNone/>
                      </a:pPr>
                      <a:r>
                        <a:rPr lang="en-US" sz="950" b="1" dirty="0">
                          <a:solidFill>
                            <a:srgbClr val="000000"/>
                          </a:solidFill>
                          <a:latin typeface="Arial" pitchFamily="34" charset="0"/>
                          <a:ea typeface="Arial" pitchFamily="34" charset="-122"/>
                          <a:cs typeface="Arial" pitchFamily="34" charset="-120"/>
                        </a:rPr>
                        <a:t>Verdict</a:t>
                      </a:r>
                      <a:endParaRPr lang="en-US" sz="950" dirty="0">
                        <a:latin typeface="Arial" charset="0"/>
                        <a:ea typeface="Arial" charset="0"/>
                        <a:cs typeface="Arial" charset="0"/>
                      </a:endParaRPr>
                    </a:p>
                  </a:txBody>
                  <a:tcPr marL="73152" marR="73152"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marL="0" indent="0" algn="l">
                        <a:buNone/>
                      </a:pPr>
                      <a:r>
                        <a:rPr lang="en-US" sz="950" b="1" dirty="0">
                          <a:solidFill>
                            <a:srgbClr val="000000"/>
                          </a:solidFill>
                          <a:latin typeface="Arial" pitchFamily="34" charset="0"/>
                          <a:ea typeface="Arial" pitchFamily="34" charset="-122"/>
                          <a:cs typeface="Arial" pitchFamily="34" charset="-120"/>
                        </a:rPr>
                        <a:t>Evidence confidence</a:t>
                      </a:r>
                      <a:endParaRPr lang="en-US" sz="950" dirty="0">
                        <a:latin typeface="Arial" charset="0"/>
                        <a:ea typeface="Arial" charset="0"/>
                        <a:cs typeface="Arial" charset="0"/>
                      </a:endParaRPr>
                    </a:p>
                  </a:txBody>
                  <a:tcPr marL="73152" marR="73152"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marL="0" indent="0" algn="l">
                        <a:buNone/>
                      </a:pPr>
                      <a:r>
                        <a:rPr lang="en-US" sz="950" b="1" dirty="0">
                          <a:solidFill>
                            <a:srgbClr val="000000"/>
                          </a:solidFill>
                          <a:latin typeface="Arial" pitchFamily="34" charset="0"/>
                          <a:ea typeface="Arial" pitchFamily="34" charset="-122"/>
                          <a:cs typeface="Arial" pitchFamily="34" charset="-120"/>
                        </a:rPr>
                        <a:t>Required action</a:t>
                      </a:r>
                      <a:endParaRPr lang="en-US" sz="950" dirty="0">
                        <a:latin typeface="Arial" charset="0"/>
                        <a:ea typeface="Arial" charset="0"/>
                        <a:cs typeface="Arial" charset="0"/>
                      </a:endParaRPr>
                    </a:p>
                  </a:txBody>
                  <a:tcPr marL="73152" marR="73152"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324612">
                <a:tc>
                  <a:txBody>
                    <a:bodyPr/>
                    <a:lstStyle/>
                    <a:p>
                      <a:pPr marL="0" indent="0" algn="l">
                        <a:buNone/>
                      </a:pPr>
                      <a:r>
                        <a:rPr lang="en-US" sz="950" dirty="0">
                          <a:solidFill>
                            <a:srgbClr val="000000"/>
                          </a:solidFill>
                          <a:latin typeface="Arial" pitchFamily="34" charset="0"/>
                          <a:ea typeface="Arial" pitchFamily="34" charset="-122"/>
                          <a:cs typeface="Arial" pitchFamily="34" charset="-120"/>
                        </a:rPr>
                        <a:t>Market</a:t>
                      </a:r>
                      <a:endParaRPr lang="en-US" sz="950" dirty="0">
                        <a:latin typeface="Arial" charset="0"/>
                        <a:ea typeface="Arial" charset="0"/>
                        <a:cs typeface="Arial" charset="0"/>
                      </a:endParaRPr>
                    </a:p>
                  </a:txBody>
                  <a:tcPr marL="73152" marR="73152" anchor="ctr">
                    <a:lnL w="0" cap="flat" cmpd="sng" algn="ctr">
                      <a:noFill/>
                    </a:lnL>
                    <a:lnR w="0" cap="flat" cmpd="sng" algn="ctr">
                      <a:noFill/>
                    </a:lnR>
                    <a:lnT w="12700" cap="flat" cmpd="sng" algn="ctr">
                      <a:solidFill>
                        <a:srgbClr val="000000"/>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950" dirty="0">
                          <a:solidFill>
                            <a:srgbClr val="000000"/>
                          </a:solidFill>
                          <a:latin typeface="Arial" pitchFamily="34" charset="0"/>
                          <a:ea typeface="Arial" pitchFamily="34" charset="-122"/>
                          <a:cs typeface="Arial" pitchFamily="34" charset="-120"/>
                        </a:rPr>
                        <a:t>Digital demand is real; the paid, addressable market is unproven</a:t>
                      </a:r>
                      <a:endParaRPr lang="en-US" sz="950" dirty="0">
                        <a:latin typeface="Arial" charset="0"/>
                        <a:ea typeface="Arial" charset="0"/>
                        <a:cs typeface="Arial" charset="0"/>
                      </a:endParaRPr>
                    </a:p>
                  </a:txBody>
                  <a:tcPr marL="73152" marR="73152" anchor="ctr">
                    <a:lnL w="0" cap="flat" cmpd="sng" algn="ctr">
                      <a:noFill/>
                    </a:lnL>
                    <a:lnR w="0" cap="flat" cmpd="sng" algn="ctr">
                      <a:noFill/>
                    </a:lnR>
                    <a:lnT w="12700" cap="flat" cmpd="sng" algn="ctr">
                      <a:solidFill>
                        <a:srgbClr val="000000"/>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950" dirty="0">
                          <a:solidFill>
                            <a:srgbClr val="000000"/>
                          </a:solidFill>
                          <a:latin typeface="Arial" pitchFamily="34" charset="0"/>
                          <a:ea typeface="Arial" pitchFamily="34" charset="-122"/>
                          <a:cs typeface="Arial" pitchFamily="34" charset="-120"/>
                        </a:rPr>
                        <a:t>High on registries, Low on paying universe</a:t>
                      </a:r>
                      <a:endParaRPr lang="en-US" sz="950" dirty="0">
                        <a:latin typeface="Arial" charset="0"/>
                        <a:ea typeface="Arial" charset="0"/>
                        <a:cs typeface="Arial" charset="0"/>
                      </a:endParaRPr>
                    </a:p>
                  </a:txBody>
                  <a:tcPr marL="73152" marR="73152" anchor="ctr">
                    <a:lnL w="0" cap="flat" cmpd="sng" algn="ctr">
                      <a:noFill/>
                    </a:lnL>
                    <a:lnR w="0" cap="flat" cmpd="sng" algn="ctr">
                      <a:noFill/>
                    </a:lnR>
                    <a:lnT w="12700" cap="flat" cmpd="sng" algn="ctr">
                      <a:solidFill>
                        <a:srgbClr val="000000"/>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950" dirty="0">
                          <a:solidFill>
                            <a:srgbClr val="000000"/>
                          </a:solidFill>
                          <a:latin typeface="Arial" pitchFamily="34" charset="0"/>
                          <a:ea typeface="Arial" pitchFamily="34" charset="-122"/>
                          <a:cs typeface="Arial" pitchFamily="34" charset="-120"/>
                        </a:rPr>
                        <a:t>Verify a paying buyer universe</a:t>
                      </a:r>
                      <a:endParaRPr lang="en-US" sz="950" dirty="0">
                        <a:latin typeface="Arial" charset="0"/>
                        <a:ea typeface="Arial" charset="0"/>
                        <a:cs typeface="Arial" charset="0"/>
                      </a:endParaRPr>
                    </a:p>
                  </a:txBody>
                  <a:tcPr marL="73152" marR="73152" anchor="ctr">
                    <a:lnL w="0" cap="flat" cmpd="sng" algn="ctr">
                      <a:noFill/>
                    </a:lnL>
                    <a:lnR w="0" cap="flat" cmpd="sng" algn="ctr">
                      <a:noFill/>
                    </a:lnR>
                    <a:lnT w="12700" cap="flat" cmpd="sng" algn="ctr">
                      <a:solidFill>
                        <a:srgbClr val="000000"/>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324612">
                <a:tc>
                  <a:txBody>
                    <a:bodyPr/>
                    <a:lstStyle/>
                    <a:p>
                      <a:pPr marL="0" indent="0" algn="l">
                        <a:buNone/>
                      </a:pPr>
                      <a:r>
                        <a:rPr lang="en-US" sz="950" dirty="0">
                          <a:solidFill>
                            <a:srgbClr val="000000"/>
                          </a:solidFill>
                          <a:latin typeface="Arial" pitchFamily="34" charset="0"/>
                          <a:ea typeface="Arial" pitchFamily="34" charset="-122"/>
                          <a:cs typeface="Arial" pitchFamily="34" charset="-120"/>
                        </a:rPr>
                        <a:t>Customer</a:t>
                      </a:r>
                      <a:endParaRPr lang="en-US" sz="9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950" dirty="0">
                          <a:solidFill>
                            <a:srgbClr val="000000"/>
                          </a:solidFill>
                          <a:latin typeface="Arial" pitchFamily="34" charset="0"/>
                          <a:ea typeface="Arial" pitchFamily="34" charset="-122"/>
                          <a:cs typeface="Arial" pitchFamily="34" charset="-120"/>
                        </a:rPr>
                        <a:t>2 to 10 doctor independent, OPD-heavy clinics</a:t>
                      </a:r>
                      <a:endParaRPr lang="en-US" sz="9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950" dirty="0">
                          <a:solidFill>
                            <a:srgbClr val="000000"/>
                          </a:solidFill>
                          <a:latin typeface="Arial" pitchFamily="34" charset="0"/>
                          <a:ea typeface="Arial" pitchFamily="34" charset="-122"/>
                          <a:cs typeface="Arial" pitchFamily="34" charset="-120"/>
                        </a:rPr>
                        <a:t>Medium — inference, not interviews</a:t>
                      </a:r>
                      <a:endParaRPr lang="en-US" sz="9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950" dirty="0">
                          <a:solidFill>
                            <a:srgbClr val="000000"/>
                          </a:solidFill>
                          <a:latin typeface="Arial" pitchFamily="34" charset="0"/>
                          <a:ea typeface="Arial" pitchFamily="34" charset="-122"/>
                          <a:cs typeface="Arial" pitchFamily="34" charset="-120"/>
                        </a:rPr>
                        <a:t>30 discovery interviews</a:t>
                      </a:r>
                      <a:endParaRPr lang="en-US" sz="9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324612">
                <a:tc>
                  <a:txBody>
                    <a:bodyPr/>
                    <a:lstStyle/>
                    <a:p>
                      <a:pPr marL="0" indent="0" algn="l">
                        <a:buNone/>
                      </a:pPr>
                      <a:r>
                        <a:rPr lang="en-US" sz="950" dirty="0">
                          <a:solidFill>
                            <a:srgbClr val="000000"/>
                          </a:solidFill>
                          <a:latin typeface="Arial" pitchFamily="34" charset="0"/>
                          <a:ea typeface="Arial" pitchFamily="34" charset="-122"/>
                          <a:cs typeface="Arial" pitchFamily="34" charset="-120"/>
                        </a:rPr>
                        <a:t>Competitive</a:t>
                      </a:r>
                      <a:endParaRPr lang="en-US" sz="9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950" dirty="0">
                          <a:solidFill>
                            <a:srgbClr val="000000"/>
                          </a:solidFill>
                          <a:latin typeface="Arial" pitchFamily="34" charset="0"/>
                          <a:ea typeface="Arial" pitchFamily="34" charset="-122"/>
                          <a:cs typeface="Arial" pitchFamily="34" charset="-120"/>
                        </a:rPr>
                        <a:t>Billing reconciliation, migration and support SLA, not AI scribe</a:t>
                      </a:r>
                      <a:endParaRPr lang="en-US" sz="9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950" dirty="0">
                          <a:solidFill>
                            <a:srgbClr val="000000"/>
                          </a:solidFill>
                          <a:latin typeface="Arial" pitchFamily="34" charset="0"/>
                          <a:ea typeface="Arial" pitchFamily="34" charset="-122"/>
                          <a:cs typeface="Arial" pitchFamily="34" charset="-120"/>
                        </a:rPr>
                        <a:t>High</a:t>
                      </a:r>
                      <a:endParaRPr lang="en-US" sz="9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950" dirty="0">
                          <a:solidFill>
                            <a:srgbClr val="000000"/>
                          </a:solidFill>
                          <a:latin typeface="Arial" pitchFamily="34" charset="0"/>
                          <a:ea typeface="Arial" pitchFamily="34" charset="-122"/>
                          <a:cs typeface="Arial" pitchFamily="34" charset="-120"/>
                        </a:rPr>
                        <a:t>Measured ROI against the incumbent</a:t>
                      </a:r>
                      <a:endParaRPr lang="en-US" sz="9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324612">
                <a:tc>
                  <a:txBody>
                    <a:bodyPr/>
                    <a:lstStyle/>
                    <a:p>
                      <a:pPr marL="0" indent="0" algn="l">
                        <a:buNone/>
                      </a:pPr>
                      <a:r>
                        <a:rPr lang="en-US" sz="950" dirty="0">
                          <a:solidFill>
                            <a:srgbClr val="000000"/>
                          </a:solidFill>
                          <a:latin typeface="Arial" pitchFamily="34" charset="0"/>
                          <a:ea typeface="Arial" pitchFamily="34" charset="-122"/>
                          <a:cs typeface="Arial" pitchFamily="34" charset="-120"/>
                        </a:rPr>
                        <a:t>Product</a:t>
                      </a:r>
                      <a:endParaRPr lang="en-US" sz="9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950" dirty="0">
                          <a:solidFill>
                            <a:srgbClr val="000000"/>
                          </a:solidFill>
                          <a:latin typeface="Arial" pitchFamily="34" charset="0"/>
                          <a:ea typeface="Arial" pitchFamily="34" charset="-122"/>
                          <a:cs typeface="Arial" pitchFamily="34" charset="-120"/>
                        </a:rPr>
                        <a:t>Doctor-first beachhead on modular architecture</a:t>
                      </a:r>
                      <a:endParaRPr lang="en-US" sz="9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950" dirty="0">
                          <a:solidFill>
                            <a:srgbClr val="000000"/>
                          </a:solidFill>
                          <a:latin typeface="Arial" pitchFamily="34" charset="0"/>
                          <a:ea typeface="Arial" pitchFamily="34" charset="-122"/>
                          <a:cs typeface="Arial" pitchFamily="34" charset="-120"/>
                        </a:rPr>
                        <a:t>Medium</a:t>
                      </a:r>
                      <a:endParaRPr lang="en-US" sz="9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950" dirty="0">
                          <a:solidFill>
                            <a:srgbClr val="000000"/>
                          </a:solidFill>
                          <a:latin typeface="Arial" pitchFamily="34" charset="0"/>
                          <a:ea typeface="Arial" pitchFamily="34" charset="-122"/>
                          <a:cs typeface="Arial" pitchFamily="34" charset="-120"/>
                        </a:rPr>
                        <a:t>6 to 8 essential workflows only</a:t>
                      </a:r>
                      <a:endParaRPr lang="en-US" sz="9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4"/>
                  </a:ext>
                </a:extLst>
              </a:tr>
              <a:tr h="324612">
                <a:tc>
                  <a:txBody>
                    <a:bodyPr/>
                    <a:lstStyle/>
                    <a:p>
                      <a:pPr marL="0" indent="0" algn="l">
                        <a:buNone/>
                      </a:pPr>
                      <a:r>
                        <a:rPr lang="en-US" sz="950" dirty="0">
                          <a:solidFill>
                            <a:srgbClr val="000000"/>
                          </a:solidFill>
                          <a:latin typeface="Arial" pitchFamily="34" charset="0"/>
                          <a:ea typeface="Arial" pitchFamily="34" charset="-122"/>
                          <a:cs typeface="Arial" pitchFamily="34" charset="-120"/>
                        </a:rPr>
                        <a:t>Financial</a:t>
                      </a:r>
                      <a:endParaRPr lang="en-US" sz="9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950" dirty="0">
                          <a:solidFill>
                            <a:srgbClr val="000000"/>
                          </a:solidFill>
                          <a:latin typeface="Arial" pitchFamily="34" charset="0"/>
                          <a:ea typeface="Arial" pitchFamily="34" charset="-122"/>
                          <a:cs typeface="Arial" pitchFamily="34" charset="-120"/>
                        </a:rPr>
                        <a:t>75% gross margin and 12-month payback, proposed</a:t>
                      </a:r>
                      <a:endParaRPr lang="en-US" sz="9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950" dirty="0">
                          <a:solidFill>
                            <a:srgbClr val="000000"/>
                          </a:solidFill>
                          <a:latin typeface="Arial" pitchFamily="34" charset="0"/>
                          <a:ea typeface="Arial" pitchFamily="34" charset="-122"/>
                          <a:cs typeface="Arial" pitchFamily="34" charset="-120"/>
                        </a:rPr>
                        <a:t>Low</a:t>
                      </a:r>
                      <a:endParaRPr lang="en-US" sz="9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950" dirty="0">
                          <a:solidFill>
                            <a:srgbClr val="000000"/>
                          </a:solidFill>
                          <a:latin typeface="Arial" pitchFamily="34" charset="0"/>
                          <a:ea typeface="Arial" pitchFamily="34" charset="-122"/>
                          <a:cs typeface="Arial" pitchFamily="34" charset="-120"/>
                        </a:rPr>
                        <a:t>Fully loaded cohort ledger</a:t>
                      </a:r>
                      <a:endParaRPr lang="en-US" sz="9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5"/>
                  </a:ext>
                </a:extLst>
              </a:tr>
              <a:tr h="324612">
                <a:tc>
                  <a:txBody>
                    <a:bodyPr/>
                    <a:lstStyle/>
                    <a:p>
                      <a:pPr marL="0" indent="0" algn="l">
                        <a:buNone/>
                      </a:pPr>
                      <a:r>
                        <a:rPr lang="en-US" sz="950" dirty="0">
                          <a:solidFill>
                            <a:srgbClr val="000000"/>
                          </a:solidFill>
                          <a:latin typeface="Arial" pitchFamily="34" charset="0"/>
                          <a:ea typeface="Arial" pitchFamily="34" charset="-122"/>
                          <a:cs typeface="Arial" pitchFamily="34" charset="-120"/>
                        </a:rPr>
                        <a:t>Growth</a:t>
                      </a:r>
                      <a:endParaRPr lang="en-US" sz="9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950" dirty="0">
                          <a:solidFill>
                            <a:srgbClr val="000000"/>
                          </a:solidFill>
                          <a:latin typeface="Arial" pitchFamily="34" charset="0"/>
                          <a:ea typeface="Arial" pitchFamily="34" charset="-122"/>
                          <a:cs typeface="Arial" pitchFamily="34" charset="-120"/>
                        </a:rPr>
                        <a:t>Founder-led sales, referral loop, local implementation partner</a:t>
                      </a:r>
                      <a:endParaRPr lang="en-US" sz="9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950" dirty="0">
                          <a:solidFill>
                            <a:srgbClr val="000000"/>
                          </a:solidFill>
                          <a:latin typeface="Arial" pitchFamily="34" charset="0"/>
                          <a:ea typeface="Arial" pitchFamily="34" charset="-122"/>
                          <a:cs typeface="Arial" pitchFamily="34" charset="-120"/>
                        </a:rPr>
                        <a:t>Low</a:t>
                      </a:r>
                      <a:endParaRPr lang="en-US" sz="9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950" dirty="0">
                          <a:solidFill>
                            <a:srgbClr val="000000"/>
                          </a:solidFill>
                          <a:latin typeface="Arial" pitchFamily="34" charset="0"/>
                          <a:ea typeface="Arial" pitchFamily="34" charset="-122"/>
                          <a:cs typeface="Arial" pitchFamily="34" charset="-120"/>
                        </a:rPr>
                        <a:t>Channel-specific conversion test</a:t>
                      </a:r>
                      <a:endParaRPr lang="en-US" sz="9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6"/>
                  </a:ext>
                </a:extLst>
              </a:tr>
              <a:tr h="324612">
                <a:tc>
                  <a:txBody>
                    <a:bodyPr/>
                    <a:lstStyle/>
                    <a:p>
                      <a:pPr marL="0" indent="0" algn="l">
                        <a:buNone/>
                      </a:pPr>
                      <a:r>
                        <a:rPr lang="en-US" sz="950" dirty="0">
                          <a:solidFill>
                            <a:srgbClr val="000000"/>
                          </a:solidFill>
                          <a:latin typeface="Arial" pitchFamily="34" charset="0"/>
                          <a:ea typeface="Arial" pitchFamily="34" charset="-122"/>
                          <a:cs typeface="Arial" pitchFamily="34" charset="-120"/>
                        </a:rPr>
                        <a:t>Investment</a:t>
                      </a:r>
                      <a:endParaRPr lang="en-US" sz="9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950" dirty="0">
                          <a:solidFill>
                            <a:srgbClr val="000000"/>
                          </a:solidFill>
                          <a:latin typeface="Arial" pitchFamily="34" charset="0"/>
                          <a:ea typeface="Arial" pitchFamily="34" charset="-122"/>
                          <a:cs typeface="Arial" pitchFamily="34" charset="-120"/>
                        </a:rPr>
                        <a:t>Conditional go; hospital suite deferred</a:t>
                      </a:r>
                      <a:endParaRPr lang="en-US" sz="9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950" dirty="0">
                          <a:solidFill>
                            <a:srgbClr val="000000"/>
                          </a:solidFill>
                          <a:latin typeface="Arial" pitchFamily="34" charset="0"/>
                          <a:ea typeface="Arial" pitchFamily="34" charset="-122"/>
                          <a:cs typeface="Arial" pitchFamily="34" charset="-120"/>
                        </a:rPr>
                        <a:t>Medium</a:t>
                      </a:r>
                      <a:endParaRPr lang="en-US" sz="9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950" dirty="0">
                          <a:solidFill>
                            <a:srgbClr val="000000"/>
                          </a:solidFill>
                          <a:latin typeface="Arial" pitchFamily="34" charset="0"/>
                          <a:ea typeface="Arial" pitchFamily="34" charset="-122"/>
                          <a:cs typeface="Arial" pitchFamily="34" charset="-120"/>
                        </a:rPr>
                        <a:t>Stage-gated release, nothing up front</a:t>
                      </a:r>
                      <a:endParaRPr lang="en-US" sz="9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10" name="Shape 7"/>
          <p:cNvSpPr/>
          <p:nvPr/>
        </p:nvSpPr>
        <p:spPr>
          <a:xfrm>
            <a:off x="548640" y="5285232"/>
            <a:ext cx="11094415" cy="731520"/>
          </a:xfrm>
          <a:prstGeom prst="rect">
            <a:avLst/>
          </a:prstGeom>
          <a:solidFill>
            <a:srgbClr val="F2F2F2"/>
          </a:solidFill>
          <a:ln/>
        </p:spPr>
      </p:sp>
      <p:sp>
        <p:nvSpPr>
          <p:cNvPr id="11" name="Text 8"/>
          <p:cNvSpPr txBox="1"/>
          <p:nvPr/>
        </p:nvSpPr>
        <p:spPr>
          <a:xfrm>
            <a:off x="777240" y="5486400"/>
            <a:ext cx="10637215" cy="365760"/>
          </a:xfrm>
          <a:prstGeom prst="rect">
            <a:avLst/>
          </a:prstGeom>
          <a:noFill/>
          <a:ln/>
        </p:spPr>
        <p:txBody>
          <a:bodyPr wrap="square" lIns="0" tIns="0" rIns="0" bIns="0" rtlCol="0" anchor="ctr"/>
          <a:lstStyle/>
          <a:p>
            <a:pPr marL="0" indent="0">
              <a:buNone/>
            </a:pPr>
            <a:r>
              <a:rPr lang="en-US" sz="1200" b="1" dirty="0">
                <a:solidFill>
                  <a:srgbClr val="000000"/>
                </a:solidFill>
                <a:latin typeface="Arial" pitchFamily="34" charset="0"/>
                <a:ea typeface="Arial" pitchFamily="34" charset="-122"/>
                <a:cs typeface="Arial" pitchFamily="34" charset="-120"/>
              </a:rPr>
              <a:t>THE ASK:  </a:t>
            </a:r>
            <a:r>
              <a:rPr lang="en-US" sz="1200" dirty="0">
                <a:solidFill>
                  <a:srgbClr val="000000"/>
                </a:solidFill>
                <a:latin typeface="Arial" pitchFamily="34" charset="0"/>
                <a:ea typeface="Arial" pitchFamily="34" charset="-122"/>
                <a:cs typeface="Arial" pitchFamily="34" charset="-120"/>
              </a:rPr>
              <a:t>Approve 90 days of founder time and a named validation scope. Zero capital committed. Funding is reconsidered only after gates G1 to G4 pass.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457200"/>
          </a:xfrm>
          <a:prstGeom prst="rect">
            <a:avLst/>
          </a:prstGeom>
          <a:noFill/>
          <a:ln/>
        </p:spPr>
        <p:txBody>
          <a:bodyPr wrap="square" lIns="0" tIns="0" rIns="0" bIns="0" rtlCol="0" anchor="ctr"/>
          <a:lstStyle/>
          <a:p>
            <a:pPr marL="0" indent="0" algn="l">
              <a:buNone/>
            </a:pPr>
            <a:r>
              <a:rPr lang="en-US" sz="2200" b="1" dirty="0">
                <a:solidFill>
                  <a:srgbClr val="000000"/>
                </a:solidFill>
                <a:latin typeface="Arial" pitchFamily="34" charset="0"/>
                <a:ea typeface="Arial" pitchFamily="34" charset="-122"/>
                <a:cs typeface="Arial" pitchFamily="34" charset="-120"/>
              </a:rPr>
              <a:t>The big market number is not the investable one</a:t>
            </a:r>
            <a:endParaRPr lang="en-US" sz="2200" dirty="0"/>
          </a:p>
        </p:txBody>
      </p:sp>
      <p:sp>
        <p:nvSpPr>
          <p:cNvPr id="7" name="Shape 5"/>
          <p:cNvSpPr/>
          <p:nvPr/>
        </p:nvSpPr>
        <p:spPr>
          <a:xfrm>
            <a:off x="4347362" y="1115568"/>
            <a:ext cx="3496970" cy="1371600"/>
          </a:xfrm>
          <a:prstGeom prst="rect">
            <a:avLst/>
          </a:prstGeom>
          <a:solidFill>
            <a:srgbClr val="FFFFFF"/>
          </a:solidFill>
          <a:ln w="9525">
            <a:solidFill>
              <a:srgbClr val="D9D9D9"/>
            </a:solidFill>
            <a:prstDash val="solid"/>
          </a:ln>
        </p:spPr>
      </p:sp>
      <p:sp>
        <p:nvSpPr>
          <p:cNvPr id="8" name="Text 6"/>
          <p:cNvSpPr txBox="1"/>
          <p:nvPr/>
        </p:nvSpPr>
        <p:spPr>
          <a:xfrm>
            <a:off x="4548530" y="1280160"/>
            <a:ext cx="3094634" cy="219456"/>
          </a:xfrm>
          <a:prstGeom prst="rect">
            <a:avLst/>
          </a:prstGeom>
          <a:noFill/>
          <a:ln/>
        </p:spPr>
        <p:txBody>
          <a:bodyPr wrap="square" lIns="0" tIns="0" rIns="0" bIns="0" rtlCol="0" anchor="ctr"/>
          <a:lstStyle/>
          <a:p>
            <a:pPr marL="0" indent="0">
              <a:buNone/>
            </a:pPr>
            <a:r>
              <a:rPr lang="en-US" sz="900" b="1" kern="0" spc="150" dirty="0">
                <a:solidFill>
                  <a:srgbClr val="595959"/>
                </a:solidFill>
                <a:latin typeface="Arial" pitchFamily="34" charset="0"/>
                <a:ea typeface="Arial" pitchFamily="34" charset="-122"/>
                <a:cs typeface="Arial" pitchFamily="34" charset="-120"/>
              </a:rPr>
              <a:t>SAM — 10% FILTER, BASE</a:t>
            </a:r>
            <a:endParaRPr lang="en-US" sz="900" dirty="0"/>
          </a:p>
        </p:txBody>
      </p:sp>
      <p:sp>
        <p:nvSpPr>
          <p:cNvPr id="9" name="Text 7"/>
          <p:cNvSpPr txBox="1"/>
          <p:nvPr/>
        </p:nvSpPr>
        <p:spPr>
          <a:xfrm>
            <a:off x="4548530" y="1536192"/>
            <a:ext cx="3094634" cy="475488"/>
          </a:xfrm>
          <a:prstGeom prst="rect">
            <a:avLst/>
          </a:prstGeom>
          <a:noFill/>
          <a:ln/>
        </p:spPr>
        <p:txBody>
          <a:bodyPr wrap="square" lIns="0" tIns="0" rIns="0" bIns="0" rtlCol="0" anchor="ctr"/>
          <a:lstStyle/>
          <a:p>
            <a:pPr marL="0" indent="0">
              <a:buNone/>
            </a:pPr>
            <a:r>
              <a:rPr lang="en-US" sz="2600" b="1" dirty="0">
                <a:solidFill>
                  <a:srgbClr val="000000"/>
                </a:solidFill>
                <a:latin typeface="Arial" pitchFamily="34" charset="0"/>
                <a:ea typeface="Arial" pitchFamily="34" charset="-122"/>
                <a:cs typeface="Arial" pitchFamily="34" charset="-120"/>
              </a:rPr>
              <a:t>₹106.5 Cr</a:t>
            </a:r>
            <a:endParaRPr lang="en-US" sz="2600" dirty="0"/>
          </a:p>
        </p:txBody>
      </p:sp>
      <p:sp>
        <p:nvSpPr>
          <p:cNvPr id="10" name="Text 8"/>
          <p:cNvSpPr txBox="1"/>
          <p:nvPr/>
        </p:nvSpPr>
        <p:spPr>
          <a:xfrm>
            <a:off x="4548530" y="2048256"/>
            <a:ext cx="3094634" cy="384048"/>
          </a:xfrm>
          <a:prstGeom prst="rect">
            <a:avLst/>
          </a:prstGeom>
          <a:noFill/>
          <a:ln/>
        </p:spPr>
        <p:txBody>
          <a:bodyPr wrap="square" lIns="0" tIns="0" rIns="0" bIns="0" rtlCol="0" anchor="ctr"/>
          <a:lstStyle/>
          <a:p>
            <a:pPr marL="0" indent="0">
              <a:lnSpc>
                <a:spcPct val="110000"/>
              </a:lnSpc>
              <a:buNone/>
            </a:pPr>
            <a:r>
              <a:rPr lang="en-US" sz="950" dirty="0">
                <a:solidFill>
                  <a:srgbClr val="595959"/>
                </a:solidFill>
                <a:latin typeface="Arial" pitchFamily="34" charset="0"/>
                <a:ea typeface="Arial" pitchFamily="34" charset="-122"/>
                <a:cs typeface="Arial" pitchFamily="34" charset="-120"/>
              </a:rPr>
              <a:t>The single base figure this deck carries. Reachability of 10% is itself an assumption.</a:t>
            </a:r>
            <a:endParaRPr lang="en-US" sz="950" dirty="0"/>
          </a:p>
        </p:txBody>
      </p:sp>
      <p:sp>
        <p:nvSpPr>
          <p:cNvPr id="11" name="Shape 9"/>
          <p:cNvSpPr/>
          <p:nvPr/>
        </p:nvSpPr>
        <p:spPr>
          <a:xfrm>
            <a:off x="8146085" y="1115568"/>
            <a:ext cx="3496970" cy="1371600"/>
          </a:xfrm>
          <a:prstGeom prst="rect">
            <a:avLst/>
          </a:prstGeom>
          <a:solidFill>
            <a:srgbClr val="FFFFFF"/>
          </a:solidFill>
          <a:ln w="9525">
            <a:solidFill>
              <a:srgbClr val="D9D9D9"/>
            </a:solidFill>
            <a:prstDash val="solid"/>
          </a:ln>
        </p:spPr>
      </p:sp>
      <p:sp>
        <p:nvSpPr>
          <p:cNvPr id="12" name="Text 10"/>
          <p:cNvSpPr txBox="1"/>
          <p:nvPr/>
        </p:nvSpPr>
        <p:spPr>
          <a:xfrm>
            <a:off x="8347253" y="1280160"/>
            <a:ext cx="3094634" cy="219456"/>
          </a:xfrm>
          <a:prstGeom prst="rect">
            <a:avLst/>
          </a:prstGeom>
          <a:noFill/>
          <a:ln/>
        </p:spPr>
        <p:txBody>
          <a:bodyPr wrap="square" lIns="0" tIns="0" rIns="0" bIns="0" rtlCol="0" anchor="ctr"/>
          <a:lstStyle/>
          <a:p>
            <a:pPr marL="0" indent="0">
              <a:buNone/>
            </a:pPr>
            <a:r>
              <a:rPr lang="en-US" sz="900" b="1" kern="0" spc="150" dirty="0">
                <a:solidFill>
                  <a:srgbClr val="595959"/>
                </a:solidFill>
                <a:latin typeface="Arial" pitchFamily="34" charset="0"/>
                <a:ea typeface="Arial" pitchFamily="34" charset="-122"/>
                <a:cs typeface="Arial" pitchFamily="34" charset="-120"/>
              </a:rPr>
              <a:t>SOM — MONTH 36 EXIT ARR</a:t>
            </a:r>
            <a:endParaRPr lang="en-US" sz="900" dirty="0"/>
          </a:p>
        </p:txBody>
      </p:sp>
      <p:sp>
        <p:nvSpPr>
          <p:cNvPr id="13" name="Text 11"/>
          <p:cNvSpPr txBox="1"/>
          <p:nvPr/>
        </p:nvSpPr>
        <p:spPr>
          <a:xfrm>
            <a:off x="8347253" y="1536192"/>
            <a:ext cx="3094634" cy="475488"/>
          </a:xfrm>
          <a:prstGeom prst="rect">
            <a:avLst/>
          </a:prstGeom>
          <a:noFill/>
          <a:ln/>
        </p:spPr>
        <p:txBody>
          <a:bodyPr wrap="square" lIns="0" tIns="0" rIns="0" bIns="0" rtlCol="0" anchor="ctr"/>
          <a:lstStyle/>
          <a:p>
            <a:pPr marL="0" indent="0">
              <a:buNone/>
            </a:pPr>
            <a:r>
              <a:rPr lang="en-US" sz="2600" b="1" dirty="0">
                <a:solidFill>
                  <a:srgbClr val="000000"/>
                </a:solidFill>
                <a:latin typeface="Arial" pitchFamily="34" charset="0"/>
                <a:ea typeface="Arial" pitchFamily="34" charset="-122"/>
                <a:cs typeface="Arial" pitchFamily="34" charset="-120"/>
              </a:rPr>
              <a:t>₹2.34 Cr</a:t>
            </a:r>
            <a:endParaRPr lang="en-US" sz="2600" dirty="0"/>
          </a:p>
        </p:txBody>
      </p:sp>
      <p:sp>
        <p:nvSpPr>
          <p:cNvPr id="14" name="Text 12"/>
          <p:cNvSpPr txBox="1"/>
          <p:nvPr/>
        </p:nvSpPr>
        <p:spPr>
          <a:xfrm>
            <a:off x="8347253" y="2048256"/>
            <a:ext cx="3094634" cy="384048"/>
          </a:xfrm>
          <a:prstGeom prst="rect">
            <a:avLst/>
          </a:prstGeom>
          <a:noFill/>
          <a:ln/>
        </p:spPr>
        <p:txBody>
          <a:bodyPr wrap="square" lIns="0" tIns="0" rIns="0" bIns="0" rtlCol="0" anchor="ctr"/>
          <a:lstStyle/>
          <a:p>
            <a:pPr marL="0" indent="0">
              <a:lnSpc>
                <a:spcPct val="110000"/>
              </a:lnSpc>
              <a:buNone/>
            </a:pPr>
            <a:r>
              <a:rPr lang="en-US" sz="950" dirty="0">
                <a:solidFill>
                  <a:srgbClr val="595959"/>
                </a:solidFill>
                <a:latin typeface="Arial" pitchFamily="34" charset="0"/>
                <a:ea typeface="Arial" pitchFamily="34" charset="-122"/>
                <a:cs typeface="Arial" pitchFamily="34" charset="-120"/>
              </a:rPr>
              <a:t>650 paying logos at ₹3,000 ARPA. FY3 recognised revenue is lower, at ₹1.53 Cr.</a:t>
            </a:r>
            <a:endParaRPr lang="en-US" sz="9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2724912"/>
          <a:ext cx="11094415" cy="3086100"/>
        </p:xfrm>
        <a:graphic>
          <a:graphicData uri="http://schemas.openxmlformats.org/drawingml/2006/table">
            <a:tbl>
              <a:tblPr/>
              <a:tblGrid>
                <a:gridCol w="3962095">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tblGrid>
              <a:tr h="342900">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Customer segment</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marL="0" indent="0" algn="r">
                        <a:buNone/>
                      </a:pPr>
                      <a:r>
                        <a:rPr lang="en-US" sz="1000" b="1" dirty="0">
                          <a:solidFill>
                            <a:srgbClr val="000000"/>
                          </a:solidFill>
                          <a:latin typeface="Arial" pitchFamily="34" charset="0"/>
                          <a:ea typeface="Arial" pitchFamily="34" charset="-122"/>
                          <a:cs typeface="Arial" pitchFamily="34" charset="-120"/>
                        </a:rPr>
                        <a:t>Accounts (modelled)</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marL="0" indent="0" algn="r">
                        <a:buNone/>
                      </a:pPr>
                      <a:r>
                        <a:rPr lang="en-US" sz="1000" b="1" dirty="0">
                          <a:solidFill>
                            <a:srgbClr val="000000"/>
                          </a:solidFill>
                          <a:latin typeface="Arial" pitchFamily="34" charset="0"/>
                          <a:ea typeface="Arial" pitchFamily="34" charset="-122"/>
                          <a:cs typeface="Arial" pitchFamily="34" charset="-120"/>
                        </a:rPr>
                        <a:t>Annual ARPA (₹)</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marL="0" indent="0" algn="r">
                        <a:buNone/>
                      </a:pPr>
                      <a:r>
                        <a:rPr lang="en-US" sz="1000" b="1" dirty="0">
                          <a:solidFill>
                            <a:srgbClr val="000000"/>
                          </a:solidFill>
                          <a:latin typeface="Arial" pitchFamily="34" charset="0"/>
                          <a:ea typeface="Arial" pitchFamily="34" charset="-122"/>
                          <a:cs typeface="Arial" pitchFamily="34" charset="-120"/>
                        </a:rPr>
                        <a:t>Segment TAM (₹ Cr)</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342900">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Solo doctor practice</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12700" cap="flat" cmpd="sng" algn="ctr">
                      <a:solidFill>
                        <a:srgbClr val="000000"/>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2,50,000</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12700" cap="flat" cmpd="sng" algn="ctr">
                      <a:solidFill>
                        <a:srgbClr val="000000"/>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12,000</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12700" cap="flat" cmpd="sng" algn="ctr">
                      <a:solidFill>
                        <a:srgbClr val="000000"/>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300</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12700" cap="flat" cmpd="sng" algn="ctr">
                      <a:solidFill>
                        <a:srgbClr val="000000"/>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342900">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Small clinic, 1 to 2 doctors</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90,000</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30,000</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270</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342900">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Multi-doctor clinic, 2 to 10</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30,000</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60,000</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180</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342900">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20 to 50 beds</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7,000</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1,20,000</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84</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4"/>
                  </a:ext>
                </a:extLst>
              </a:tr>
              <a:tr h="342900">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51 to 100 beds</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3,000</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2,40,000</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72</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5"/>
                  </a:ext>
                </a:extLst>
              </a:tr>
              <a:tr h="342900">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101 to 250 beds</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1,500</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5,00,000</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75</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6"/>
                  </a:ext>
                </a:extLst>
              </a:tr>
              <a:tr h="342900">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251 to 500 beds</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700</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12,00,000</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000" dirty="0">
                          <a:solidFill>
                            <a:srgbClr val="000000"/>
                          </a:solidFill>
                          <a:latin typeface="Arial" pitchFamily="34" charset="0"/>
                          <a:ea typeface="Arial" pitchFamily="34" charset="-122"/>
                          <a:cs typeface="Arial" pitchFamily="34" charset="-120"/>
                        </a:rPr>
                        <a:t>84</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7"/>
                  </a:ext>
                </a:extLst>
              </a:tr>
              <a:tr h="342900">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TOTAL</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0" cap="flat" cmpd="sng" algn="ctr">
                      <a:noFill/>
                    </a:lnB>
                    <a:solidFill>
                      <a:srgbClr val="F2F2F2"/>
                    </a:solidFill>
                  </a:tcPr>
                </a:tc>
                <a:tc>
                  <a:txBody>
                    <a:bodyPr/>
                    <a:lstStyle/>
                    <a:p>
                      <a:pPr marL="0" indent="0" algn="r">
                        <a:buNone/>
                      </a:pPr>
                      <a:r>
                        <a:rPr lang="en-US" sz="1000" b="1" dirty="0">
                          <a:solidFill>
                            <a:srgbClr val="000000"/>
                          </a:solidFill>
                          <a:latin typeface="Arial" pitchFamily="34" charset="0"/>
                          <a:ea typeface="Arial" pitchFamily="34" charset="-122"/>
                          <a:cs typeface="Arial" pitchFamily="34" charset="-120"/>
                        </a:rPr>
                        <a:t>3,82,200</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0" cap="flat" cmpd="sng" algn="ctr">
                      <a:noFill/>
                    </a:lnB>
                    <a:solidFill>
                      <a:srgbClr val="F2F2F2"/>
                    </a:solidFill>
                  </a:tcPr>
                </a:tc>
                <a:tc>
                  <a:txBody>
                    <a:bodyPr/>
                    <a:lstStyle/>
                    <a:p>
                      <a:pPr marL="0" indent="0" algn="r">
                        <a:buNone/>
                      </a:pPr>
                      <a:r>
                        <a:rPr lang="en-US" sz="1000" b="1" dirty="0">
                          <a:solidFill>
                            <a:srgbClr val="000000"/>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0" cap="flat" cmpd="sng" algn="ctr">
                      <a:noFill/>
                    </a:lnB>
                    <a:solidFill>
                      <a:srgbClr val="F2F2F2"/>
                    </a:solidFill>
                  </a:tcPr>
                </a:tc>
                <a:tc>
                  <a:txBody>
                    <a:bodyPr/>
                    <a:lstStyle/>
                    <a:p>
                      <a:pPr marL="0" indent="0" algn="r">
                        <a:buNone/>
                      </a:pPr>
                      <a:r>
                        <a:rPr lang="en-US" sz="1000" b="1" dirty="0">
                          <a:solidFill>
                            <a:srgbClr val="000000"/>
                          </a:solidFill>
                          <a:latin typeface="Arial" pitchFamily="34" charset="0"/>
                          <a:ea typeface="Arial" pitchFamily="34" charset="-122"/>
                          <a:cs typeface="Arial" pitchFamily="34" charset="-120"/>
                        </a:rPr>
                        <a:t>1,065</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0" cap="flat" cmpd="sng" algn="ctr">
                      <a:noFill/>
                    </a:lnB>
                    <a:solidFill>
                      <a:srgbClr val="F2F2F2"/>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457200"/>
          </a:xfrm>
          <a:prstGeom prst="rect">
            <a:avLst/>
          </a:prstGeom>
          <a:noFill/>
          <a:ln/>
        </p:spPr>
        <p:txBody>
          <a:bodyPr wrap="square" lIns="0" tIns="0" rIns="0" bIns="0" rtlCol="0" anchor="ctr"/>
          <a:lstStyle/>
          <a:p>
            <a:pPr marL="0" indent="0" algn="l">
              <a:buNone/>
            </a:pPr>
            <a:r>
              <a:rPr lang="en-US" sz="2200" b="1" dirty="0">
                <a:solidFill>
                  <a:srgbClr val="000000"/>
                </a:solidFill>
                <a:latin typeface="Arial" pitchFamily="34" charset="0"/>
                <a:ea typeface="Arial" pitchFamily="34" charset="-122"/>
                <a:cs typeface="Arial" pitchFamily="34" charset="-120"/>
              </a:rPr>
              <a:t>The category is crowded, mature and already priced</a:t>
            </a:r>
            <a:endParaRPr lang="en-US" sz="2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115568"/>
          <a:ext cx="11094415" cy="3200400"/>
        </p:xfrm>
        <a:graphic>
          <a:graphicData uri="http://schemas.openxmlformats.org/drawingml/2006/table">
            <a:tbl>
              <a:tblPr/>
              <a:tblGrid>
                <a:gridCol w="173736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gridCol w="3322015">
                  <a:extLst>
                    <a:ext uri="{9D8B030D-6E8A-4147-A177-3AD203B41FA5}">
                      <a16:colId xmlns:a16="http://schemas.microsoft.com/office/drawing/2014/main" val="20003"/>
                    </a:ext>
                  </a:extLst>
                </a:gridCol>
              </a:tblGrid>
              <a:tr h="457200">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Player</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Published price</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Scale claim (vendor self-report)</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Threat to MEDOS</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457200">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Practo Ray</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12700" cap="flat" cmpd="sng" algn="ctr">
                      <a:solidFill>
                        <a:srgbClr val="000000"/>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₹999 to ₹1,499 / month</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12700" cap="flat" cmpd="sng" algn="ctr">
                      <a:solidFill>
                        <a:srgbClr val="000000"/>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50k+ doctors</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12700" cap="flat" cmpd="sng" algn="ctr">
                      <a:solidFill>
                        <a:srgbClr val="000000"/>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HIGH — value floor on solo and small clinic</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12700" cap="flat" cmpd="sng" algn="ctr">
                      <a:solidFill>
                        <a:srgbClr val="000000"/>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Eka Care</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₹16,999 / year Doc Plus; ₹1,00,000 / year Clinic Pro</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50m platform users, not paying clinics</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HIGH — ABHA ecosystem plus AI scribe</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HealthPlix</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Quote and free tier mix</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14k+ doctors, 16 specialties</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HIGH — direct AI documentation rival</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MocDoc</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Quote only</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1,500+ institutions</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VERY HIGH at 20 to 100 beds</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KareXpert</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Quote only</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300+ hospitals via NABH listing</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Deferred — not a phase-one segment</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MEDOS, proposed</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₹2,999 to ₹4,999 / month</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0 paying accounts</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Price not market-validated</a:t>
                      </a:r>
                      <a:endParaRPr lang="en-US" sz="10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4" name="Shape 1"/>
          <p:cNvSpPr/>
          <p:nvPr/>
        </p:nvSpPr>
        <p:spPr>
          <a:xfrm>
            <a:off x="548640" y="4553712"/>
            <a:ext cx="1188720" cy="1188720"/>
          </a:xfrm>
          <a:prstGeom prst="rect">
            <a:avLst/>
          </a:prstGeom>
          <a:solidFill>
            <a:srgbClr val="FFFFFF"/>
          </a:solidFill>
          <a:ln w="9525">
            <a:solidFill>
              <a:srgbClr val="D9D9D9"/>
            </a:solidFill>
            <a:prstDash val="solid"/>
          </a:ln>
        </p:spPr>
      </p:sp>
      <p:sp>
        <p:nvSpPr>
          <p:cNvPr id="3" name="Text 2"/>
          <p:cNvSpPr txBox="1"/>
          <p:nvPr/>
        </p:nvSpPr>
        <p:spPr>
          <a:xfrm>
            <a:off x="548640" y="4773168"/>
            <a:ext cx="1188720" cy="457200"/>
          </a:xfrm>
          <a:prstGeom prst="rect">
            <a:avLst/>
          </a:prstGeom>
          <a:noFill/>
          <a:ln/>
        </p:spPr>
        <p:txBody>
          <a:bodyPr wrap="square" lIns="0" tIns="0" rIns="0" bIns="0" rtlCol="0" anchor="ctr"/>
          <a:lstStyle/>
          <a:p>
            <a:pPr marL="0" indent="0" algn="ctr">
              <a:buNone/>
            </a:pPr>
            <a:r>
              <a:rPr lang="en-US" sz="2200" b="1" dirty="0">
                <a:solidFill>
                  <a:srgbClr val="000000"/>
                </a:solidFill>
                <a:latin typeface="Arial" pitchFamily="34" charset="0"/>
                <a:ea typeface="Arial" pitchFamily="34" charset="-122"/>
                <a:cs typeface="Arial" pitchFamily="34" charset="-120"/>
              </a:rPr>
              <a:t>5</a:t>
            </a:r>
            <a:endParaRPr lang="en-US" sz="2200" dirty="0"/>
          </a:p>
        </p:txBody>
      </p:sp>
      <p:sp>
        <p:nvSpPr>
          <p:cNvPr id="6" name="Text 3"/>
          <p:cNvSpPr txBox="1"/>
          <p:nvPr/>
        </p:nvSpPr>
        <p:spPr>
          <a:xfrm>
            <a:off x="548640" y="5285232"/>
            <a:ext cx="1188720" cy="292608"/>
          </a:xfrm>
          <a:prstGeom prst="rect">
            <a:avLst/>
          </a:prstGeom>
          <a:noFill/>
          <a:ln/>
        </p:spPr>
        <p:txBody>
          <a:bodyPr wrap="square" lIns="0" tIns="0" rIns="0" bIns="0" rtlCol="0" anchor="ctr"/>
          <a:lstStyle/>
          <a:p>
            <a:pPr marL="0" indent="0" algn="ctr">
              <a:buNone/>
            </a:pPr>
            <a:r>
              <a:rPr lang="en-US" sz="900" dirty="0">
                <a:solidFill>
                  <a:srgbClr val="595959"/>
                </a:solidFill>
                <a:latin typeface="Arial" pitchFamily="34" charset="0"/>
                <a:ea typeface="Arial" pitchFamily="34" charset="-122"/>
                <a:cs typeface="Arial" pitchFamily="34" charset="-120"/>
              </a:rPr>
              <a:t>Rivalry</a:t>
            </a:r>
            <a:endParaRPr lang="en-US" sz="900" dirty="0"/>
          </a:p>
        </p:txBody>
      </p:sp>
      <p:sp>
        <p:nvSpPr>
          <p:cNvPr id="7" name="Shape 4"/>
          <p:cNvSpPr/>
          <p:nvPr/>
        </p:nvSpPr>
        <p:spPr>
          <a:xfrm>
            <a:off x="1874520" y="4553712"/>
            <a:ext cx="1188720" cy="1188720"/>
          </a:xfrm>
          <a:prstGeom prst="rect">
            <a:avLst/>
          </a:prstGeom>
          <a:solidFill>
            <a:srgbClr val="FFFFFF"/>
          </a:solidFill>
          <a:ln w="9525">
            <a:solidFill>
              <a:srgbClr val="D9D9D9"/>
            </a:solidFill>
            <a:prstDash val="solid"/>
          </a:ln>
        </p:spPr>
      </p:sp>
      <p:sp>
        <p:nvSpPr>
          <p:cNvPr id="8" name="Text 5"/>
          <p:cNvSpPr txBox="1"/>
          <p:nvPr/>
        </p:nvSpPr>
        <p:spPr>
          <a:xfrm>
            <a:off x="1874520" y="4773168"/>
            <a:ext cx="1188720" cy="457200"/>
          </a:xfrm>
          <a:prstGeom prst="rect">
            <a:avLst/>
          </a:prstGeom>
          <a:noFill/>
          <a:ln/>
        </p:spPr>
        <p:txBody>
          <a:bodyPr wrap="square" lIns="0" tIns="0" rIns="0" bIns="0" rtlCol="0" anchor="ctr"/>
          <a:lstStyle/>
          <a:p>
            <a:pPr marL="0" indent="0" algn="ctr">
              <a:buNone/>
            </a:pPr>
            <a:r>
              <a:rPr lang="en-US" sz="2200" b="1" dirty="0">
                <a:solidFill>
                  <a:srgbClr val="000000"/>
                </a:solidFill>
                <a:latin typeface="Arial" pitchFamily="34" charset="0"/>
                <a:ea typeface="Arial" pitchFamily="34" charset="-122"/>
                <a:cs typeface="Arial" pitchFamily="34" charset="-120"/>
              </a:rPr>
              <a:t>5</a:t>
            </a:r>
            <a:endParaRPr lang="en-US" sz="2200" dirty="0"/>
          </a:p>
        </p:txBody>
      </p:sp>
      <p:sp>
        <p:nvSpPr>
          <p:cNvPr id="9" name="Text 6"/>
          <p:cNvSpPr txBox="1"/>
          <p:nvPr/>
        </p:nvSpPr>
        <p:spPr>
          <a:xfrm>
            <a:off x="1874520" y="5285232"/>
            <a:ext cx="1188720" cy="292608"/>
          </a:xfrm>
          <a:prstGeom prst="rect">
            <a:avLst/>
          </a:prstGeom>
          <a:noFill/>
          <a:ln/>
        </p:spPr>
        <p:txBody>
          <a:bodyPr wrap="square" lIns="0" tIns="0" rIns="0" bIns="0" rtlCol="0" anchor="ctr"/>
          <a:lstStyle/>
          <a:p>
            <a:pPr marL="0" indent="0" algn="ctr">
              <a:buNone/>
            </a:pPr>
            <a:r>
              <a:rPr lang="en-US" sz="900" dirty="0">
                <a:solidFill>
                  <a:srgbClr val="595959"/>
                </a:solidFill>
                <a:latin typeface="Arial" pitchFamily="34" charset="0"/>
                <a:ea typeface="Arial" pitchFamily="34" charset="-122"/>
                <a:cs typeface="Arial" pitchFamily="34" charset="-120"/>
              </a:rPr>
              <a:t>Substitutes</a:t>
            </a:r>
            <a:endParaRPr lang="en-US" sz="900" dirty="0"/>
          </a:p>
        </p:txBody>
      </p:sp>
      <p:sp>
        <p:nvSpPr>
          <p:cNvPr id="10" name="Shape 7"/>
          <p:cNvSpPr/>
          <p:nvPr/>
        </p:nvSpPr>
        <p:spPr>
          <a:xfrm>
            <a:off x="3200400" y="4553712"/>
            <a:ext cx="1188720" cy="1188720"/>
          </a:xfrm>
          <a:prstGeom prst="rect">
            <a:avLst/>
          </a:prstGeom>
          <a:solidFill>
            <a:srgbClr val="FFFFFF"/>
          </a:solidFill>
          <a:ln w="9525">
            <a:solidFill>
              <a:srgbClr val="D9D9D9"/>
            </a:solidFill>
            <a:prstDash val="solid"/>
          </a:ln>
        </p:spPr>
      </p:sp>
      <p:sp>
        <p:nvSpPr>
          <p:cNvPr id="11" name="Text 8"/>
          <p:cNvSpPr txBox="1"/>
          <p:nvPr/>
        </p:nvSpPr>
        <p:spPr>
          <a:xfrm>
            <a:off x="3200400" y="4773168"/>
            <a:ext cx="1188720" cy="457200"/>
          </a:xfrm>
          <a:prstGeom prst="rect">
            <a:avLst/>
          </a:prstGeom>
          <a:noFill/>
          <a:ln/>
        </p:spPr>
        <p:txBody>
          <a:bodyPr wrap="square" lIns="0" tIns="0" rIns="0" bIns="0" rtlCol="0" anchor="ctr"/>
          <a:lstStyle/>
          <a:p>
            <a:pPr marL="0" indent="0" algn="ctr">
              <a:buNone/>
            </a:pPr>
            <a:r>
              <a:rPr lang="en-US" sz="2200" b="1" dirty="0">
                <a:solidFill>
                  <a:srgbClr val="000000"/>
                </a:solidFill>
                <a:latin typeface="Arial" pitchFamily="34" charset="0"/>
                <a:ea typeface="Arial" pitchFamily="34" charset="-122"/>
                <a:cs typeface="Arial" pitchFamily="34" charset="-120"/>
              </a:rPr>
              <a:t>4</a:t>
            </a:r>
            <a:endParaRPr lang="en-US" sz="2200" dirty="0"/>
          </a:p>
        </p:txBody>
      </p:sp>
      <p:sp>
        <p:nvSpPr>
          <p:cNvPr id="12" name="Text 9"/>
          <p:cNvSpPr txBox="1"/>
          <p:nvPr/>
        </p:nvSpPr>
        <p:spPr>
          <a:xfrm>
            <a:off x="3200400" y="5285232"/>
            <a:ext cx="1188720" cy="292608"/>
          </a:xfrm>
          <a:prstGeom prst="rect">
            <a:avLst/>
          </a:prstGeom>
          <a:noFill/>
          <a:ln/>
        </p:spPr>
        <p:txBody>
          <a:bodyPr wrap="square" lIns="0" tIns="0" rIns="0" bIns="0" rtlCol="0" anchor="ctr"/>
          <a:lstStyle/>
          <a:p>
            <a:pPr marL="0" indent="0" algn="ctr">
              <a:buNone/>
            </a:pPr>
            <a:r>
              <a:rPr lang="en-US" sz="900" dirty="0">
                <a:solidFill>
                  <a:srgbClr val="595959"/>
                </a:solidFill>
                <a:latin typeface="Arial" pitchFamily="34" charset="0"/>
                <a:ea typeface="Arial" pitchFamily="34" charset="-122"/>
                <a:cs typeface="Arial" pitchFamily="34" charset="-120"/>
              </a:rPr>
              <a:t>New entrants</a:t>
            </a:r>
            <a:endParaRPr lang="en-US" sz="900" dirty="0"/>
          </a:p>
        </p:txBody>
      </p:sp>
      <p:sp>
        <p:nvSpPr>
          <p:cNvPr id="13" name="Shape 10"/>
          <p:cNvSpPr/>
          <p:nvPr/>
        </p:nvSpPr>
        <p:spPr>
          <a:xfrm>
            <a:off x="4526280" y="4553712"/>
            <a:ext cx="1188720" cy="1188720"/>
          </a:xfrm>
          <a:prstGeom prst="rect">
            <a:avLst/>
          </a:prstGeom>
          <a:solidFill>
            <a:srgbClr val="FFFFFF"/>
          </a:solidFill>
          <a:ln w="9525">
            <a:solidFill>
              <a:srgbClr val="D9D9D9"/>
            </a:solidFill>
            <a:prstDash val="solid"/>
          </a:ln>
        </p:spPr>
      </p:sp>
      <p:sp>
        <p:nvSpPr>
          <p:cNvPr id="14" name="Text 11"/>
          <p:cNvSpPr txBox="1"/>
          <p:nvPr/>
        </p:nvSpPr>
        <p:spPr>
          <a:xfrm>
            <a:off x="4526280" y="4773168"/>
            <a:ext cx="1188720" cy="457200"/>
          </a:xfrm>
          <a:prstGeom prst="rect">
            <a:avLst/>
          </a:prstGeom>
          <a:noFill/>
          <a:ln/>
        </p:spPr>
        <p:txBody>
          <a:bodyPr wrap="square" lIns="0" tIns="0" rIns="0" bIns="0" rtlCol="0" anchor="ctr"/>
          <a:lstStyle/>
          <a:p>
            <a:pPr marL="0" indent="0" algn="ctr">
              <a:buNone/>
            </a:pPr>
            <a:r>
              <a:rPr lang="en-US" sz="2200" b="1" dirty="0">
                <a:solidFill>
                  <a:srgbClr val="000000"/>
                </a:solidFill>
                <a:latin typeface="Arial" pitchFamily="34" charset="0"/>
                <a:ea typeface="Arial" pitchFamily="34" charset="-122"/>
                <a:cs typeface="Arial" pitchFamily="34" charset="-120"/>
              </a:rPr>
              <a:t>4</a:t>
            </a:r>
            <a:endParaRPr lang="en-US" sz="2200" dirty="0"/>
          </a:p>
        </p:txBody>
      </p:sp>
      <p:sp>
        <p:nvSpPr>
          <p:cNvPr id="15" name="Text 12"/>
          <p:cNvSpPr txBox="1"/>
          <p:nvPr/>
        </p:nvSpPr>
        <p:spPr>
          <a:xfrm>
            <a:off x="4526280" y="5285232"/>
            <a:ext cx="1188720" cy="292608"/>
          </a:xfrm>
          <a:prstGeom prst="rect">
            <a:avLst/>
          </a:prstGeom>
          <a:noFill/>
          <a:ln/>
        </p:spPr>
        <p:txBody>
          <a:bodyPr wrap="square" lIns="0" tIns="0" rIns="0" bIns="0" rtlCol="0" anchor="ctr"/>
          <a:lstStyle/>
          <a:p>
            <a:pPr marL="0" indent="0" algn="ctr">
              <a:buNone/>
            </a:pPr>
            <a:r>
              <a:rPr lang="en-US" sz="900" dirty="0">
                <a:solidFill>
                  <a:srgbClr val="595959"/>
                </a:solidFill>
                <a:latin typeface="Arial" pitchFamily="34" charset="0"/>
                <a:ea typeface="Arial" pitchFamily="34" charset="-122"/>
                <a:cs typeface="Arial" pitchFamily="34" charset="-120"/>
              </a:rPr>
              <a:t>Buyer power</a:t>
            </a:r>
            <a:endParaRPr lang="en-US" sz="900" dirty="0"/>
          </a:p>
        </p:txBody>
      </p:sp>
      <p:sp>
        <p:nvSpPr>
          <p:cNvPr id="16" name="Shape 13"/>
          <p:cNvSpPr/>
          <p:nvPr/>
        </p:nvSpPr>
        <p:spPr>
          <a:xfrm>
            <a:off x="5852160" y="4553712"/>
            <a:ext cx="1188720" cy="1188720"/>
          </a:xfrm>
          <a:prstGeom prst="rect">
            <a:avLst/>
          </a:prstGeom>
          <a:solidFill>
            <a:srgbClr val="FFFFFF"/>
          </a:solidFill>
          <a:ln w="9525">
            <a:solidFill>
              <a:srgbClr val="D9D9D9"/>
            </a:solidFill>
            <a:prstDash val="solid"/>
          </a:ln>
        </p:spPr>
      </p:sp>
      <p:sp>
        <p:nvSpPr>
          <p:cNvPr id="17" name="Text 14"/>
          <p:cNvSpPr txBox="1"/>
          <p:nvPr/>
        </p:nvSpPr>
        <p:spPr>
          <a:xfrm>
            <a:off x="5852160" y="4773168"/>
            <a:ext cx="1188720" cy="457200"/>
          </a:xfrm>
          <a:prstGeom prst="rect">
            <a:avLst/>
          </a:prstGeom>
          <a:noFill/>
          <a:ln/>
        </p:spPr>
        <p:txBody>
          <a:bodyPr wrap="square" lIns="0" tIns="0" rIns="0" bIns="0" rtlCol="0" anchor="ctr"/>
          <a:lstStyle/>
          <a:p>
            <a:pPr marL="0" indent="0" algn="ctr">
              <a:buNone/>
            </a:pPr>
            <a:r>
              <a:rPr lang="en-US" sz="2200" b="1" dirty="0">
                <a:solidFill>
                  <a:srgbClr val="000000"/>
                </a:solidFill>
                <a:latin typeface="Arial" pitchFamily="34" charset="0"/>
                <a:ea typeface="Arial" pitchFamily="34" charset="-122"/>
                <a:cs typeface="Arial" pitchFamily="34" charset="-120"/>
              </a:rPr>
              <a:t>3</a:t>
            </a:r>
            <a:endParaRPr lang="en-US" sz="2200" dirty="0"/>
          </a:p>
        </p:txBody>
      </p:sp>
      <p:sp>
        <p:nvSpPr>
          <p:cNvPr id="18" name="Text 15"/>
          <p:cNvSpPr txBox="1"/>
          <p:nvPr/>
        </p:nvSpPr>
        <p:spPr>
          <a:xfrm>
            <a:off x="5852160" y="5285232"/>
            <a:ext cx="1188720" cy="292608"/>
          </a:xfrm>
          <a:prstGeom prst="rect">
            <a:avLst/>
          </a:prstGeom>
          <a:noFill/>
          <a:ln/>
        </p:spPr>
        <p:txBody>
          <a:bodyPr wrap="square" lIns="0" tIns="0" rIns="0" bIns="0" rtlCol="0" anchor="ctr"/>
          <a:lstStyle/>
          <a:p>
            <a:pPr marL="0" indent="0" algn="ctr">
              <a:buNone/>
            </a:pPr>
            <a:r>
              <a:rPr lang="en-US" sz="900" dirty="0">
                <a:solidFill>
                  <a:srgbClr val="595959"/>
                </a:solidFill>
                <a:latin typeface="Arial" pitchFamily="34" charset="0"/>
                <a:ea typeface="Arial" pitchFamily="34" charset="-122"/>
                <a:cs typeface="Arial" pitchFamily="34" charset="-120"/>
              </a:rPr>
              <a:t>Supplier power</a:t>
            </a:r>
            <a:endParaRPr lang="en-US" sz="900" dirty="0"/>
          </a:p>
        </p:txBody>
      </p:sp>
      <p:sp>
        <p:nvSpPr>
          <p:cNvPr id="19" name="Shape 16"/>
          <p:cNvSpPr/>
          <p:nvPr/>
        </p:nvSpPr>
        <p:spPr>
          <a:xfrm>
            <a:off x="7360920" y="4553712"/>
            <a:ext cx="4282135" cy="1188720"/>
          </a:xfrm>
          <a:prstGeom prst="rect">
            <a:avLst/>
          </a:prstGeom>
          <a:solidFill>
            <a:srgbClr val="F2F2F2"/>
          </a:solidFill>
          <a:ln/>
        </p:spPr>
      </p:sp>
      <p:sp>
        <p:nvSpPr>
          <p:cNvPr id="20" name="Text 17"/>
          <p:cNvSpPr txBox="1"/>
          <p:nvPr/>
        </p:nvSpPr>
        <p:spPr>
          <a:xfrm>
            <a:off x="7589520" y="4773168"/>
            <a:ext cx="3840480" cy="365760"/>
          </a:xfrm>
          <a:prstGeom prst="rect">
            <a:avLst/>
          </a:prstGeom>
          <a:noFill/>
          <a:ln/>
        </p:spPr>
        <p:txBody>
          <a:bodyPr wrap="square" lIns="0" tIns="0" rIns="0" bIns="0" rtlCol="0" anchor="ctr"/>
          <a:lstStyle/>
          <a:p>
            <a:pPr marL="0" indent="0">
              <a:buNone/>
            </a:pPr>
            <a:r>
              <a:rPr lang="en-US" sz="2000" b="1" dirty="0">
                <a:solidFill>
                  <a:srgbClr val="000000"/>
                </a:solidFill>
                <a:latin typeface="Arial" pitchFamily="34" charset="0"/>
                <a:ea typeface="Arial" pitchFamily="34" charset="-122"/>
                <a:cs typeface="Arial" pitchFamily="34" charset="-120"/>
              </a:rPr>
              <a:t>0 / 5</a:t>
            </a:r>
            <a:r>
              <a:rPr lang="en-US" sz="1200" dirty="0">
                <a:solidFill>
                  <a:srgbClr val="000000"/>
                </a:solidFill>
                <a:latin typeface="Arial" pitchFamily="34" charset="0"/>
                <a:ea typeface="Arial" pitchFamily="34" charset="-122"/>
                <a:cs typeface="Arial" pitchFamily="34" charset="-120"/>
              </a:rPr>
              <a:t>   achievable 2 to 3 / 5</a:t>
            </a:r>
            <a:endParaRPr lang="en-US" sz="2000" dirty="0"/>
          </a:p>
        </p:txBody>
      </p:sp>
      <p:sp>
        <p:nvSpPr>
          <p:cNvPr id="21" name="Text 18"/>
          <p:cNvSpPr txBox="1"/>
          <p:nvPr/>
        </p:nvSpPr>
        <p:spPr>
          <a:xfrm>
            <a:off x="7589520" y="5212080"/>
            <a:ext cx="3840480" cy="475488"/>
          </a:xfrm>
          <a:prstGeom prst="rect">
            <a:avLst/>
          </a:prstGeom>
          <a:noFill/>
          <a:ln/>
        </p:spPr>
        <p:txBody>
          <a:bodyPr wrap="square" lIns="0" tIns="0" rIns="0" bIns="0" rtlCol="0" anchor="ctr"/>
          <a:lstStyle/>
          <a:p>
            <a:pPr marL="0" indent="0">
              <a:lnSpc>
                <a:spcPct val="110000"/>
              </a:lnSpc>
              <a:buNone/>
            </a:pPr>
            <a:r>
              <a:rPr lang="en-US" sz="1000" dirty="0">
                <a:solidFill>
                  <a:srgbClr val="595959"/>
                </a:solidFill>
                <a:latin typeface="Arial" pitchFamily="34" charset="0"/>
                <a:ea typeface="Arial" pitchFamily="34" charset="-122"/>
                <a:cs typeface="Arial" pitchFamily="34" charset="-120"/>
              </a:rPr>
              <a:t>Only with proprietary workflow data, named references and real integrations. Pure AI text generation scores 0 to 1.</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457200"/>
          </a:xfrm>
          <a:prstGeom prst="rect">
            <a:avLst/>
          </a:prstGeom>
          <a:noFill/>
          <a:ln/>
        </p:spPr>
        <p:txBody>
          <a:bodyPr wrap="square" lIns="0" tIns="0" rIns="0" bIns="0" rtlCol="0" anchor="ctr"/>
          <a:lstStyle/>
          <a:p>
            <a:pPr marL="0" indent="0" algn="l">
              <a:buNone/>
            </a:pPr>
            <a:r>
              <a:rPr lang="en-US" sz="2200" b="1" dirty="0">
                <a:solidFill>
                  <a:srgbClr val="000000"/>
                </a:solidFill>
                <a:latin typeface="Arial" pitchFamily="34" charset="0"/>
                <a:ea typeface="Arial" pitchFamily="34" charset="-122"/>
                <a:cs typeface="Arial" pitchFamily="34" charset="-120"/>
              </a:rPr>
              <a:t>Product choice is settled; the economics are not</a:t>
            </a:r>
            <a:endParaRPr lang="en-US" sz="2200" dirty="0"/>
          </a:p>
        </p:txBody>
      </p:sp>
      <p:sp>
        <p:nvSpPr>
          <p:cNvPr id="3" name="Shape 1"/>
          <p:cNvSpPr/>
          <p:nvPr/>
        </p:nvSpPr>
        <p:spPr>
          <a:xfrm>
            <a:off x="548640" y="1115568"/>
            <a:ext cx="3496970" cy="749808"/>
          </a:xfrm>
          <a:prstGeom prst="rect">
            <a:avLst/>
          </a:prstGeom>
          <a:solidFill>
            <a:srgbClr val="FFFFFF"/>
          </a:solidFill>
          <a:ln w="9525">
            <a:solidFill>
              <a:srgbClr val="D9D9D9"/>
            </a:solidFill>
            <a:prstDash val="solid"/>
          </a:ln>
        </p:spPr>
      </p:sp>
      <p:sp>
        <p:nvSpPr>
          <p:cNvPr id="4" name="Text 2"/>
          <p:cNvSpPr txBox="1"/>
          <p:nvPr/>
        </p:nvSpPr>
        <p:spPr>
          <a:xfrm>
            <a:off x="749808" y="1261872"/>
            <a:ext cx="3094634" cy="256032"/>
          </a:xfrm>
          <a:prstGeom prst="rect">
            <a:avLst/>
          </a:prstGeom>
          <a:noFill/>
          <a:ln/>
        </p:spPr>
        <p:txBody>
          <a:bodyPr wrap="square" lIns="0" tIns="0" rIns="0" bIns="0" rtlCol="0" anchor="ctr"/>
          <a:lstStyle/>
          <a:p>
            <a:pPr marL="0" indent="0">
              <a:buNone/>
            </a:pPr>
            <a:r>
              <a:rPr lang="en-US" sz="1250" b="1" dirty="0">
                <a:solidFill>
                  <a:srgbClr val="000000"/>
                </a:solidFill>
                <a:latin typeface="Arial" pitchFamily="34" charset="0"/>
                <a:ea typeface="Arial" pitchFamily="34" charset="-122"/>
                <a:cs typeface="Arial" pitchFamily="34" charset="-120"/>
              </a:rPr>
              <a:t>A — Doctor-first</a:t>
            </a:r>
            <a:endParaRPr lang="en-US" sz="1250" dirty="0"/>
          </a:p>
        </p:txBody>
      </p:sp>
      <p:sp>
        <p:nvSpPr>
          <p:cNvPr id="5" name="Text 3"/>
          <p:cNvSpPr txBox="1"/>
          <p:nvPr/>
        </p:nvSpPr>
        <p:spPr>
          <a:xfrm>
            <a:off x="749808" y="1554480"/>
            <a:ext cx="3094634" cy="219456"/>
          </a:xfrm>
          <a:prstGeom prst="rect">
            <a:avLst/>
          </a:prstGeom>
          <a:noFill/>
          <a:ln/>
        </p:spPr>
        <p:txBody>
          <a:bodyPr wrap="square" lIns="0" tIns="0" rIns="0" bIns="0" rtlCol="0" anchor="ctr"/>
          <a:lstStyle/>
          <a:p>
            <a:pPr marL="0" indent="0">
              <a:buNone/>
            </a:pPr>
            <a:r>
              <a:rPr lang="en-US" sz="950" dirty="0">
                <a:solidFill>
                  <a:srgbClr val="595959"/>
                </a:solidFill>
                <a:latin typeface="Arial" pitchFamily="34" charset="0"/>
                <a:ea typeface="Arial" pitchFamily="34" charset="-122"/>
                <a:cs typeface="Arial" pitchFamily="34" charset="-120"/>
              </a:rPr>
              <a:t>Market entry</a:t>
            </a:r>
            <a:endParaRPr lang="en-US" sz="950" dirty="0"/>
          </a:p>
        </p:txBody>
      </p:sp>
      <p:sp>
        <p:nvSpPr>
          <p:cNvPr id="6" name="Shape 4"/>
          <p:cNvSpPr/>
          <p:nvPr/>
        </p:nvSpPr>
        <p:spPr>
          <a:xfrm>
            <a:off x="4347362" y="1115568"/>
            <a:ext cx="3496970" cy="749808"/>
          </a:xfrm>
          <a:prstGeom prst="rect">
            <a:avLst/>
          </a:prstGeom>
          <a:solidFill>
            <a:srgbClr val="FFFFFF"/>
          </a:solidFill>
          <a:ln w="9525">
            <a:solidFill>
              <a:srgbClr val="D9D9D9"/>
            </a:solidFill>
            <a:prstDash val="solid"/>
          </a:ln>
        </p:spPr>
      </p:sp>
      <p:sp>
        <p:nvSpPr>
          <p:cNvPr id="7" name="Text 5"/>
          <p:cNvSpPr txBox="1"/>
          <p:nvPr/>
        </p:nvSpPr>
        <p:spPr>
          <a:xfrm>
            <a:off x="4548530" y="1261872"/>
            <a:ext cx="3094634" cy="256032"/>
          </a:xfrm>
          <a:prstGeom prst="rect">
            <a:avLst/>
          </a:prstGeom>
          <a:noFill/>
          <a:ln/>
        </p:spPr>
        <p:txBody>
          <a:bodyPr wrap="square" lIns="0" tIns="0" rIns="0" bIns="0" rtlCol="0" anchor="ctr"/>
          <a:lstStyle/>
          <a:p>
            <a:pPr marL="0" indent="0">
              <a:buNone/>
            </a:pPr>
            <a:r>
              <a:rPr lang="en-US" sz="1250" b="1" dirty="0">
                <a:solidFill>
                  <a:srgbClr val="000000"/>
                </a:solidFill>
                <a:latin typeface="Arial" pitchFamily="34" charset="0"/>
                <a:ea typeface="Arial" pitchFamily="34" charset="-122"/>
                <a:cs typeface="Arial" pitchFamily="34" charset="-120"/>
              </a:rPr>
              <a:t>C — Modular platform</a:t>
            </a:r>
            <a:endParaRPr lang="en-US" sz="1250" dirty="0"/>
          </a:p>
        </p:txBody>
      </p:sp>
      <p:sp>
        <p:nvSpPr>
          <p:cNvPr id="8" name="Text 6"/>
          <p:cNvSpPr txBox="1"/>
          <p:nvPr/>
        </p:nvSpPr>
        <p:spPr>
          <a:xfrm>
            <a:off x="4548530" y="1554480"/>
            <a:ext cx="3094634" cy="219456"/>
          </a:xfrm>
          <a:prstGeom prst="rect">
            <a:avLst/>
          </a:prstGeom>
          <a:noFill/>
          <a:ln/>
        </p:spPr>
        <p:txBody>
          <a:bodyPr wrap="square" lIns="0" tIns="0" rIns="0" bIns="0" rtlCol="0" anchor="ctr"/>
          <a:lstStyle/>
          <a:p>
            <a:pPr marL="0" indent="0">
              <a:buNone/>
            </a:pPr>
            <a:r>
              <a:rPr lang="en-US" sz="950" dirty="0">
                <a:solidFill>
                  <a:srgbClr val="595959"/>
                </a:solidFill>
                <a:latin typeface="Arial" pitchFamily="34" charset="0"/>
                <a:ea typeface="Arial" pitchFamily="34" charset="-122"/>
                <a:cs typeface="Arial" pitchFamily="34" charset="-120"/>
              </a:rPr>
              <a:t>Underlying architecture</a:t>
            </a:r>
            <a:endParaRPr lang="en-US" sz="950" dirty="0"/>
          </a:p>
        </p:txBody>
      </p:sp>
      <p:sp>
        <p:nvSpPr>
          <p:cNvPr id="9" name="Shape 7"/>
          <p:cNvSpPr/>
          <p:nvPr/>
        </p:nvSpPr>
        <p:spPr>
          <a:xfrm>
            <a:off x="8146085" y="1115568"/>
            <a:ext cx="3496970" cy="749808"/>
          </a:xfrm>
          <a:prstGeom prst="rect">
            <a:avLst/>
          </a:prstGeom>
          <a:solidFill>
            <a:srgbClr val="FFFFFF"/>
          </a:solidFill>
          <a:ln w="9525">
            <a:solidFill>
              <a:srgbClr val="D9D9D9"/>
            </a:solidFill>
            <a:prstDash val="solid"/>
          </a:ln>
        </p:spPr>
      </p:sp>
      <p:sp>
        <p:nvSpPr>
          <p:cNvPr id="10" name="Text 8"/>
          <p:cNvSpPr txBox="1"/>
          <p:nvPr/>
        </p:nvSpPr>
        <p:spPr>
          <a:xfrm>
            <a:off x="8347253" y="1261872"/>
            <a:ext cx="3094634" cy="256032"/>
          </a:xfrm>
          <a:prstGeom prst="rect">
            <a:avLst/>
          </a:prstGeom>
          <a:noFill/>
          <a:ln/>
        </p:spPr>
        <p:txBody>
          <a:bodyPr wrap="square" lIns="0" tIns="0" rIns="0" bIns="0" rtlCol="0" anchor="ctr"/>
          <a:lstStyle/>
          <a:p>
            <a:pPr marL="0" indent="0">
              <a:buNone/>
            </a:pPr>
            <a:r>
              <a:rPr lang="en-US" sz="1250" b="1" dirty="0">
                <a:solidFill>
                  <a:srgbClr val="000000"/>
                </a:solidFill>
                <a:latin typeface="Arial" pitchFamily="34" charset="0"/>
                <a:ea typeface="Arial" pitchFamily="34" charset="-122"/>
                <a:cs typeface="Arial" pitchFamily="34" charset="-120"/>
              </a:rPr>
              <a:t>B — Hospital-first</a:t>
            </a:r>
            <a:endParaRPr lang="en-US" sz="1250" dirty="0"/>
          </a:p>
        </p:txBody>
      </p:sp>
      <p:sp>
        <p:nvSpPr>
          <p:cNvPr id="11" name="Text 9"/>
          <p:cNvSpPr txBox="1"/>
          <p:nvPr/>
        </p:nvSpPr>
        <p:spPr>
          <a:xfrm>
            <a:off x="8347253" y="1554480"/>
            <a:ext cx="3094634" cy="219456"/>
          </a:xfrm>
          <a:prstGeom prst="rect">
            <a:avLst/>
          </a:prstGeom>
          <a:noFill/>
          <a:ln/>
        </p:spPr>
        <p:txBody>
          <a:bodyPr wrap="square" lIns="0" tIns="0" rIns="0" bIns="0" rtlCol="0" anchor="ctr"/>
          <a:lstStyle/>
          <a:p>
            <a:pPr marL="0" indent="0">
              <a:buNone/>
            </a:pPr>
            <a:r>
              <a:rPr lang="en-US" sz="950" dirty="0">
                <a:solidFill>
                  <a:srgbClr val="595959"/>
                </a:solidFill>
                <a:latin typeface="Arial" pitchFamily="34" charset="0"/>
                <a:ea typeface="Arial" pitchFamily="34" charset="-122"/>
                <a:cs typeface="Arial" pitchFamily="34" charset="-120"/>
              </a:rPr>
              <a:t>Deferred</a:t>
            </a:r>
            <a:endParaRPr lang="en-US" sz="950" dirty="0"/>
          </a:p>
        </p:txBody>
      </p:sp>
      <p:sp>
        <p:nvSpPr>
          <p:cNvPr id="12" name="Text 10"/>
          <p:cNvSpPr txBox="1"/>
          <p:nvPr/>
        </p:nvSpPr>
        <p:spPr>
          <a:xfrm>
            <a:off x="548640" y="2011680"/>
            <a:ext cx="11094415" cy="457200"/>
          </a:xfrm>
          <a:prstGeom prst="rect">
            <a:avLst/>
          </a:prstGeom>
          <a:noFill/>
          <a:ln/>
        </p:spPr>
        <p:txBody>
          <a:bodyPr wrap="square" lIns="0" tIns="0" rIns="0" bIns="0" rtlCol="0" anchor="ctr"/>
          <a:lstStyle/>
          <a:p>
            <a:pPr marL="0" indent="0">
              <a:lnSpc>
                <a:spcPct val="110000"/>
              </a:lnSpc>
              <a:buNone/>
            </a:pPr>
            <a:r>
              <a:rPr lang="en-US" sz="1000" dirty="0">
                <a:solidFill>
                  <a:srgbClr val="595959"/>
                </a:solidFill>
                <a:latin typeface="Arial" pitchFamily="34" charset="0"/>
                <a:ea typeface="Arial" pitchFamily="34" charset="-122"/>
                <a:cs typeface="Arial" pitchFamily="34" charset="-120"/>
              </a:rPr>
              <a:t>Weighted score out of 100, analyst assumptions rather than customer evidence. Shift the weights toward monetisation and the modular platform wins at 72.8, which is why architecture and go-to-market are decided separately.</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2697480"/>
          <a:ext cx="11094415" cy="2944368"/>
        </p:xfrm>
        <a:graphic>
          <a:graphicData uri="http://schemas.openxmlformats.org/drawingml/2006/table">
            <a:tbl>
              <a:tblPr/>
              <a:tblGrid>
                <a:gridCol w="3962095">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tblGrid>
              <a:tr h="420624">
                <a:tc>
                  <a:txBody>
                    <a:bodyPr/>
                    <a:lstStyle/>
                    <a:p>
                      <a:pPr marL="0" indent="0" algn="l">
                        <a:buNone/>
                      </a:pPr>
                      <a:r>
                        <a:rPr lang="en-US" sz="1100" b="1" dirty="0">
                          <a:solidFill>
                            <a:srgbClr val="000000"/>
                          </a:solidFill>
                          <a:latin typeface="Arial" pitchFamily="34" charset="0"/>
                          <a:ea typeface="Arial" pitchFamily="34" charset="-122"/>
                          <a:cs typeface="Arial" pitchFamily="34" charset="-120"/>
                        </a:rPr>
                        <a:t>Unit economics</a:t>
                      </a:r>
                      <a:endParaRPr lang="en-US" sz="1100" dirty="0">
                        <a:latin typeface="Arial" charset="0"/>
                        <a:ea typeface="Arial" charset="0"/>
                        <a:cs typeface="Arial" charset="0"/>
                      </a:endParaRPr>
                    </a:p>
                  </a:txBody>
                  <a:tcPr marL="73152" marR="73152"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marL="0" indent="0" algn="r">
                        <a:buNone/>
                      </a:pPr>
                      <a:r>
                        <a:rPr lang="en-US" sz="1100" b="1" dirty="0">
                          <a:solidFill>
                            <a:srgbClr val="000000"/>
                          </a:solidFill>
                          <a:latin typeface="Arial" pitchFamily="34" charset="0"/>
                          <a:ea typeface="Arial" pitchFamily="34" charset="-122"/>
                          <a:cs typeface="Arial" pitchFamily="34" charset="-120"/>
                        </a:rPr>
                        <a:t>Conservative</a:t>
                      </a:r>
                      <a:endParaRPr lang="en-US" sz="1100" dirty="0">
                        <a:latin typeface="Arial" charset="0"/>
                        <a:ea typeface="Arial" charset="0"/>
                        <a:cs typeface="Arial" charset="0"/>
                      </a:endParaRPr>
                    </a:p>
                  </a:txBody>
                  <a:tcPr marL="73152" marR="73152"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marL="0" indent="0" algn="r">
                        <a:buNone/>
                      </a:pPr>
                      <a:r>
                        <a:rPr lang="en-US" sz="1100" b="1" dirty="0">
                          <a:solidFill>
                            <a:srgbClr val="000000"/>
                          </a:solidFill>
                          <a:latin typeface="Arial" pitchFamily="34" charset="0"/>
                          <a:ea typeface="Arial" pitchFamily="34" charset="-122"/>
                          <a:cs typeface="Arial" pitchFamily="34" charset="-120"/>
                        </a:rPr>
                        <a:t>Base</a:t>
                      </a:r>
                      <a:endParaRPr lang="en-US" sz="1100" dirty="0">
                        <a:latin typeface="Arial" charset="0"/>
                        <a:ea typeface="Arial" charset="0"/>
                        <a:cs typeface="Arial" charset="0"/>
                      </a:endParaRPr>
                    </a:p>
                  </a:txBody>
                  <a:tcPr marL="73152" marR="73152"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marL="0" indent="0" algn="r">
                        <a:buNone/>
                      </a:pPr>
                      <a:r>
                        <a:rPr lang="en-US" sz="1100" b="1" dirty="0">
                          <a:solidFill>
                            <a:srgbClr val="000000"/>
                          </a:solidFill>
                          <a:latin typeface="Arial" pitchFamily="34" charset="0"/>
                          <a:ea typeface="Arial" pitchFamily="34" charset="-122"/>
                          <a:cs typeface="Arial" pitchFamily="34" charset="-120"/>
                        </a:rPr>
                        <a:t>Aggressive</a:t>
                      </a:r>
                      <a:endParaRPr lang="en-US" sz="1100" dirty="0">
                        <a:latin typeface="Arial" charset="0"/>
                        <a:ea typeface="Arial" charset="0"/>
                        <a:cs typeface="Arial" charset="0"/>
                      </a:endParaRPr>
                    </a:p>
                  </a:txBody>
                  <a:tcPr marL="73152" marR="73152"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420624">
                <a:tc>
                  <a:txBody>
                    <a:bodyPr/>
                    <a:lstStyle/>
                    <a:p>
                      <a:pPr marL="0" indent="0" algn="l">
                        <a:buNone/>
                      </a:pPr>
                      <a:r>
                        <a:rPr lang="en-US" sz="1100" dirty="0">
                          <a:solidFill>
                            <a:srgbClr val="000000"/>
                          </a:solidFill>
                          <a:latin typeface="Arial" pitchFamily="34" charset="0"/>
                          <a:ea typeface="Arial" pitchFamily="34" charset="-122"/>
                          <a:cs typeface="Arial" pitchFamily="34" charset="-120"/>
                        </a:rPr>
                        <a:t>Monthly ARPA (₹)</a:t>
                      </a:r>
                      <a:endParaRPr lang="en-US" sz="1100" dirty="0">
                        <a:latin typeface="Arial" charset="0"/>
                        <a:ea typeface="Arial" charset="0"/>
                        <a:cs typeface="Arial" charset="0"/>
                      </a:endParaRPr>
                    </a:p>
                  </a:txBody>
                  <a:tcPr marL="73152" marR="73152" anchor="ctr">
                    <a:lnL w="0" cap="flat" cmpd="sng" algn="ctr">
                      <a:noFill/>
                    </a:lnL>
                    <a:lnR w="0" cap="flat" cmpd="sng" algn="ctr">
                      <a:noFill/>
                    </a:lnR>
                    <a:lnT w="12700" cap="flat" cmpd="sng" algn="ctr">
                      <a:solidFill>
                        <a:srgbClr val="000000"/>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100" dirty="0">
                          <a:solidFill>
                            <a:srgbClr val="000000"/>
                          </a:solidFill>
                          <a:latin typeface="Arial" pitchFamily="34" charset="0"/>
                          <a:ea typeface="Arial" pitchFamily="34" charset="-122"/>
                          <a:cs typeface="Arial" pitchFamily="34" charset="-120"/>
                        </a:rPr>
                        <a:t>1,999</a:t>
                      </a:r>
                      <a:endParaRPr lang="en-US" sz="1100" dirty="0">
                        <a:latin typeface="Arial" charset="0"/>
                        <a:ea typeface="Arial" charset="0"/>
                        <a:cs typeface="Arial" charset="0"/>
                      </a:endParaRPr>
                    </a:p>
                  </a:txBody>
                  <a:tcPr marL="73152" marR="73152" anchor="ctr">
                    <a:lnL w="0" cap="flat" cmpd="sng" algn="ctr">
                      <a:noFill/>
                    </a:lnL>
                    <a:lnR w="0" cap="flat" cmpd="sng" algn="ctr">
                      <a:noFill/>
                    </a:lnR>
                    <a:lnT w="12700" cap="flat" cmpd="sng" algn="ctr">
                      <a:solidFill>
                        <a:srgbClr val="000000"/>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100" dirty="0">
                          <a:solidFill>
                            <a:srgbClr val="000000"/>
                          </a:solidFill>
                          <a:latin typeface="Arial" pitchFamily="34" charset="0"/>
                          <a:ea typeface="Arial" pitchFamily="34" charset="-122"/>
                          <a:cs typeface="Arial" pitchFamily="34" charset="-120"/>
                        </a:rPr>
                        <a:t>2,999</a:t>
                      </a:r>
                      <a:endParaRPr lang="en-US" sz="1100" dirty="0">
                        <a:latin typeface="Arial" charset="0"/>
                        <a:ea typeface="Arial" charset="0"/>
                        <a:cs typeface="Arial" charset="0"/>
                      </a:endParaRPr>
                    </a:p>
                  </a:txBody>
                  <a:tcPr marL="73152" marR="73152" anchor="ctr">
                    <a:lnL w="0" cap="flat" cmpd="sng" algn="ctr">
                      <a:noFill/>
                    </a:lnL>
                    <a:lnR w="0" cap="flat" cmpd="sng" algn="ctr">
                      <a:noFill/>
                    </a:lnR>
                    <a:lnT w="12700" cap="flat" cmpd="sng" algn="ctr">
                      <a:solidFill>
                        <a:srgbClr val="000000"/>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100" dirty="0">
                          <a:solidFill>
                            <a:srgbClr val="000000"/>
                          </a:solidFill>
                          <a:latin typeface="Arial" pitchFamily="34" charset="0"/>
                          <a:ea typeface="Arial" pitchFamily="34" charset="-122"/>
                          <a:cs typeface="Arial" pitchFamily="34" charset="-120"/>
                        </a:rPr>
                        <a:t>3,999</a:t>
                      </a:r>
                      <a:endParaRPr lang="en-US" sz="1100" dirty="0">
                        <a:latin typeface="Arial" charset="0"/>
                        <a:ea typeface="Arial" charset="0"/>
                        <a:cs typeface="Arial" charset="0"/>
                      </a:endParaRPr>
                    </a:p>
                  </a:txBody>
                  <a:tcPr marL="73152" marR="73152" anchor="ctr">
                    <a:lnL w="0" cap="flat" cmpd="sng" algn="ctr">
                      <a:noFill/>
                    </a:lnL>
                    <a:lnR w="0" cap="flat" cmpd="sng" algn="ctr">
                      <a:noFill/>
                    </a:lnR>
                    <a:lnT w="12700" cap="flat" cmpd="sng" algn="ctr">
                      <a:solidFill>
                        <a:srgbClr val="000000"/>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420624">
                <a:tc>
                  <a:txBody>
                    <a:bodyPr/>
                    <a:lstStyle/>
                    <a:p>
                      <a:pPr marL="0" indent="0" algn="l">
                        <a:buNone/>
                      </a:pPr>
                      <a:r>
                        <a:rPr lang="en-US" sz="1100" dirty="0">
                          <a:solidFill>
                            <a:srgbClr val="000000"/>
                          </a:solidFill>
                          <a:latin typeface="Arial" pitchFamily="34" charset="0"/>
                          <a:ea typeface="Arial" pitchFamily="34" charset="-122"/>
                          <a:cs typeface="Arial" pitchFamily="34" charset="-120"/>
                        </a:rPr>
                        <a:t>Gross margin</a:t>
                      </a:r>
                      <a:endParaRPr lang="en-US" sz="11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100" dirty="0">
                          <a:solidFill>
                            <a:srgbClr val="000000"/>
                          </a:solidFill>
                          <a:latin typeface="Arial" pitchFamily="34" charset="0"/>
                          <a:ea typeface="Arial" pitchFamily="34" charset="-122"/>
                          <a:cs typeface="Arial" pitchFamily="34" charset="-120"/>
                        </a:rPr>
                        <a:t>65%</a:t>
                      </a:r>
                      <a:endParaRPr lang="en-US" sz="11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100" dirty="0">
                          <a:solidFill>
                            <a:srgbClr val="000000"/>
                          </a:solidFill>
                          <a:latin typeface="Arial" pitchFamily="34" charset="0"/>
                          <a:ea typeface="Arial" pitchFamily="34" charset="-122"/>
                          <a:cs typeface="Arial" pitchFamily="34" charset="-120"/>
                        </a:rPr>
                        <a:t>75%</a:t>
                      </a:r>
                      <a:endParaRPr lang="en-US" sz="11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100" dirty="0">
                          <a:solidFill>
                            <a:srgbClr val="000000"/>
                          </a:solidFill>
                          <a:latin typeface="Arial" pitchFamily="34" charset="0"/>
                          <a:ea typeface="Arial" pitchFamily="34" charset="-122"/>
                          <a:cs typeface="Arial" pitchFamily="34" charset="-120"/>
                        </a:rPr>
                        <a:t>80%</a:t>
                      </a:r>
                      <a:endParaRPr lang="en-US" sz="11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420624">
                <a:tc>
                  <a:txBody>
                    <a:bodyPr/>
                    <a:lstStyle/>
                    <a:p>
                      <a:pPr marL="0" indent="0" algn="l">
                        <a:buNone/>
                      </a:pPr>
                      <a:r>
                        <a:rPr lang="en-US" sz="1100" dirty="0">
                          <a:solidFill>
                            <a:srgbClr val="000000"/>
                          </a:solidFill>
                          <a:latin typeface="Arial" pitchFamily="34" charset="0"/>
                          <a:ea typeface="Arial" pitchFamily="34" charset="-122"/>
                          <a:cs typeface="Arial" pitchFamily="34" charset="-120"/>
                        </a:rPr>
                        <a:t>Fully loaded CAC (₹)</a:t>
                      </a:r>
                      <a:endParaRPr lang="en-US" sz="11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100" dirty="0">
                          <a:solidFill>
                            <a:srgbClr val="000000"/>
                          </a:solidFill>
                          <a:latin typeface="Arial" pitchFamily="34" charset="0"/>
                          <a:ea typeface="Arial" pitchFamily="34" charset="-122"/>
                          <a:cs typeface="Arial" pitchFamily="34" charset="-120"/>
                        </a:rPr>
                        <a:t>30,000</a:t>
                      </a:r>
                      <a:endParaRPr lang="en-US" sz="11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100" dirty="0">
                          <a:solidFill>
                            <a:srgbClr val="000000"/>
                          </a:solidFill>
                          <a:latin typeface="Arial" pitchFamily="34" charset="0"/>
                          <a:ea typeface="Arial" pitchFamily="34" charset="-122"/>
                          <a:cs typeface="Arial" pitchFamily="34" charset="-120"/>
                        </a:rPr>
                        <a:t>18,000</a:t>
                      </a:r>
                      <a:endParaRPr lang="en-US" sz="11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100" dirty="0">
                          <a:solidFill>
                            <a:srgbClr val="000000"/>
                          </a:solidFill>
                          <a:latin typeface="Arial" pitchFamily="34" charset="0"/>
                          <a:ea typeface="Arial" pitchFamily="34" charset="-122"/>
                          <a:cs typeface="Arial" pitchFamily="34" charset="-120"/>
                        </a:rPr>
                        <a:t>14,000</a:t>
                      </a:r>
                      <a:endParaRPr lang="en-US" sz="11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420624">
                <a:tc>
                  <a:txBody>
                    <a:bodyPr/>
                    <a:lstStyle/>
                    <a:p>
                      <a:pPr marL="0" indent="0" algn="l">
                        <a:buNone/>
                      </a:pPr>
                      <a:r>
                        <a:rPr lang="en-US" sz="1100" dirty="0">
                          <a:solidFill>
                            <a:srgbClr val="000000"/>
                          </a:solidFill>
                          <a:latin typeface="Arial" pitchFamily="34" charset="0"/>
                          <a:ea typeface="Arial" pitchFamily="34" charset="-122"/>
                          <a:cs typeface="Arial" pitchFamily="34" charset="-120"/>
                        </a:rPr>
                        <a:t>Monthly logo churn</a:t>
                      </a:r>
                      <a:endParaRPr lang="en-US" sz="11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100" dirty="0">
                          <a:solidFill>
                            <a:srgbClr val="000000"/>
                          </a:solidFill>
                          <a:latin typeface="Arial" pitchFamily="34" charset="0"/>
                          <a:ea typeface="Arial" pitchFamily="34" charset="-122"/>
                          <a:cs typeface="Arial" pitchFamily="34" charset="-120"/>
                        </a:rPr>
                        <a:t>3.5%</a:t>
                      </a:r>
                      <a:endParaRPr lang="en-US" sz="11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100" dirty="0">
                          <a:solidFill>
                            <a:srgbClr val="000000"/>
                          </a:solidFill>
                          <a:latin typeface="Arial" pitchFamily="34" charset="0"/>
                          <a:ea typeface="Arial" pitchFamily="34" charset="-122"/>
                          <a:cs typeface="Arial" pitchFamily="34" charset="-120"/>
                        </a:rPr>
                        <a:t>2.0%</a:t>
                      </a:r>
                      <a:endParaRPr lang="en-US" sz="11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100" dirty="0">
                          <a:solidFill>
                            <a:srgbClr val="000000"/>
                          </a:solidFill>
                          <a:latin typeface="Arial" pitchFamily="34" charset="0"/>
                          <a:ea typeface="Arial" pitchFamily="34" charset="-122"/>
                          <a:cs typeface="Arial" pitchFamily="34" charset="-120"/>
                        </a:rPr>
                        <a:t>1.5%</a:t>
                      </a:r>
                      <a:endParaRPr lang="en-US" sz="11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4"/>
                  </a:ext>
                </a:extLst>
              </a:tr>
              <a:tr h="420624">
                <a:tc>
                  <a:txBody>
                    <a:bodyPr/>
                    <a:lstStyle/>
                    <a:p>
                      <a:pPr marL="0" indent="0" algn="l">
                        <a:buNone/>
                      </a:pPr>
                      <a:r>
                        <a:rPr lang="en-US" sz="1100" dirty="0">
                          <a:solidFill>
                            <a:srgbClr val="000000"/>
                          </a:solidFill>
                          <a:latin typeface="Arial" pitchFamily="34" charset="0"/>
                          <a:ea typeface="Arial" pitchFamily="34" charset="-122"/>
                          <a:cs typeface="Arial" pitchFamily="34" charset="-120"/>
                        </a:rPr>
                        <a:t>LTV / CAC, simplistic</a:t>
                      </a:r>
                      <a:endParaRPr lang="en-US" sz="11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100" dirty="0">
                          <a:solidFill>
                            <a:srgbClr val="000000"/>
                          </a:solidFill>
                          <a:latin typeface="Arial" pitchFamily="34" charset="0"/>
                          <a:ea typeface="Arial" pitchFamily="34" charset="-122"/>
                          <a:cs typeface="Arial" pitchFamily="34" charset="-120"/>
                        </a:rPr>
                        <a:t>1.24x</a:t>
                      </a:r>
                      <a:endParaRPr lang="en-US" sz="11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100" dirty="0">
                          <a:solidFill>
                            <a:srgbClr val="000000"/>
                          </a:solidFill>
                          <a:latin typeface="Arial" pitchFamily="34" charset="0"/>
                          <a:ea typeface="Arial" pitchFamily="34" charset="-122"/>
                          <a:cs typeface="Arial" pitchFamily="34" charset="-120"/>
                        </a:rPr>
                        <a:t>6.25x</a:t>
                      </a:r>
                      <a:endParaRPr lang="en-US" sz="11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100" dirty="0">
                          <a:solidFill>
                            <a:srgbClr val="000000"/>
                          </a:solidFill>
                          <a:latin typeface="Arial" pitchFamily="34" charset="0"/>
                          <a:ea typeface="Arial" pitchFamily="34" charset="-122"/>
                          <a:cs typeface="Arial" pitchFamily="34" charset="-120"/>
                        </a:rPr>
                        <a:t>15.23x</a:t>
                      </a:r>
                      <a:endParaRPr lang="en-US" sz="11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5"/>
                  </a:ext>
                </a:extLst>
              </a:tr>
              <a:tr h="420624">
                <a:tc>
                  <a:txBody>
                    <a:bodyPr/>
                    <a:lstStyle/>
                    <a:p>
                      <a:pPr marL="0" indent="0" algn="l">
                        <a:buNone/>
                      </a:pPr>
                      <a:r>
                        <a:rPr lang="en-US" sz="1100" dirty="0">
                          <a:solidFill>
                            <a:srgbClr val="000000"/>
                          </a:solidFill>
                          <a:latin typeface="Arial" pitchFamily="34" charset="0"/>
                          <a:ea typeface="Arial" pitchFamily="34" charset="-122"/>
                          <a:cs typeface="Arial" pitchFamily="34" charset="-120"/>
                        </a:rPr>
                        <a:t>12-month NRR</a:t>
                      </a:r>
                      <a:endParaRPr lang="en-US" sz="11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100" dirty="0">
                          <a:solidFill>
                            <a:srgbClr val="000000"/>
                          </a:solidFill>
                          <a:latin typeface="Arial" pitchFamily="34" charset="0"/>
                          <a:ea typeface="Arial" pitchFamily="34" charset="-122"/>
                          <a:cs typeface="Arial" pitchFamily="34" charset="-120"/>
                        </a:rPr>
                        <a:t>90%</a:t>
                      </a:r>
                      <a:endParaRPr lang="en-US" sz="11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100" dirty="0">
                          <a:solidFill>
                            <a:srgbClr val="000000"/>
                          </a:solidFill>
                          <a:latin typeface="Arial" pitchFamily="34" charset="0"/>
                          <a:ea typeface="Arial" pitchFamily="34" charset="-122"/>
                          <a:cs typeface="Arial" pitchFamily="34" charset="-120"/>
                        </a:rPr>
                        <a:t>102%</a:t>
                      </a:r>
                      <a:endParaRPr lang="en-US" sz="11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100" dirty="0">
                          <a:solidFill>
                            <a:srgbClr val="000000"/>
                          </a:solidFill>
                          <a:latin typeface="Arial" pitchFamily="34" charset="0"/>
                          <a:ea typeface="Arial" pitchFamily="34" charset="-122"/>
                          <a:cs typeface="Arial" pitchFamily="34" charset="-120"/>
                        </a:rPr>
                        <a:t>112%</a:t>
                      </a:r>
                      <a:endParaRPr lang="en-US" sz="110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457200"/>
          </a:xfrm>
          <a:prstGeom prst="rect">
            <a:avLst/>
          </a:prstGeom>
          <a:noFill/>
          <a:ln/>
        </p:spPr>
        <p:txBody>
          <a:bodyPr wrap="square" lIns="0" tIns="0" rIns="0" bIns="0" rtlCol="0" anchor="ctr"/>
          <a:lstStyle/>
          <a:p>
            <a:pPr marL="0" indent="0" algn="l">
              <a:buNone/>
            </a:pPr>
            <a:r>
              <a:rPr lang="en-US" sz="2200" b="1" dirty="0">
                <a:solidFill>
                  <a:srgbClr val="000000"/>
                </a:solidFill>
                <a:latin typeface="Arial" pitchFamily="34" charset="0"/>
                <a:ea typeface="Arial" pitchFamily="34" charset="-122"/>
                <a:cs typeface="Arial" pitchFamily="34" charset="-120"/>
              </a:rPr>
              <a:t>Product choice is settled; the economics are not</a:t>
            </a:r>
            <a:endParaRPr lang="en-US" sz="2200" dirty="0"/>
          </a:p>
        </p:txBody>
      </p:sp>
      <p:graphicFrame>
        <p:nvGraphicFramePr>
          <p:cNvPr id="3" name="Chart 0"/>
          <p:cNvGraphicFramePr/>
          <p:nvPr/>
        </p:nvGraphicFramePr>
        <p:xfrm>
          <a:off x="548640" y="1143000"/>
          <a:ext cx="630936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7178040" y="1143000"/>
            <a:ext cx="4465015" cy="4206240"/>
          </a:xfrm>
          <a:prstGeom prst="rect">
            <a:avLst/>
          </a:prstGeom>
          <a:solidFill>
            <a:srgbClr val="F2F2F2"/>
          </a:solidFill>
          <a:ln/>
        </p:spPr>
      </p:sp>
      <p:sp>
        <p:nvSpPr>
          <p:cNvPr id="5" name="Text 2"/>
          <p:cNvSpPr txBox="1"/>
          <p:nvPr/>
        </p:nvSpPr>
        <p:spPr>
          <a:xfrm>
            <a:off x="7406640" y="1417320"/>
            <a:ext cx="4007815" cy="3657600"/>
          </a:xfrm>
          <a:prstGeom prst="rect">
            <a:avLst/>
          </a:prstGeom>
          <a:noFill/>
          <a:ln/>
        </p:spPr>
        <p:txBody>
          <a:bodyPr wrap="square" lIns="0" tIns="0" rIns="0" bIns="0" rtlCol="0" anchor="ctr"/>
          <a:lstStyle/>
          <a:p>
            <a:pPr marL="0" indent="0">
              <a:lnSpc>
                <a:spcPct val="130000"/>
              </a:lnSpc>
              <a:buNone/>
            </a:pPr>
            <a:r>
              <a:rPr lang="en-US" sz="1200" b="1" dirty="0">
                <a:solidFill>
                  <a:srgbClr val="000000"/>
                </a:solidFill>
                <a:latin typeface="Arial" pitchFamily="34" charset="0"/>
                <a:ea typeface="Arial" pitchFamily="34" charset="-122"/>
                <a:cs typeface="Arial" pitchFamily="34" charset="-120"/>
              </a:rPr>
              <a:t>Break-even reality check:  </a:t>
            </a:r>
            <a:r>
              <a:rPr lang="en-US" sz="1200" dirty="0">
                <a:solidFill>
                  <a:srgbClr val="000000"/>
                </a:solidFill>
                <a:latin typeface="Arial" pitchFamily="34" charset="0"/>
                <a:ea typeface="Arial" pitchFamily="34" charset="-122"/>
                <a:cs typeface="Arial" pitchFamily="34" charset="-120"/>
              </a:rPr>
              <a:t>534 paying clinics are needed to cover ₹12 lakh of monthly fixed cost at 75% gross margin and ₹2,999 ARPA — and that calculation excludes new-customer CAC, onboarding cash cost and tax. The base case reaches 650 logos only at month 36. A positive month-36 gross profit is not FY3 profitability: base FY3 recognised revenue of ₹1.53 Cr against the same fixed cost gives roughly ₹29 lakh of negative EBITDA before any additional acquisition spend.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457200"/>
          </a:xfrm>
          <a:prstGeom prst="rect">
            <a:avLst/>
          </a:prstGeom>
          <a:noFill/>
          <a:ln/>
        </p:spPr>
        <p:txBody>
          <a:bodyPr wrap="square" lIns="0" tIns="0" rIns="0" bIns="0" rtlCol="0" anchor="ctr"/>
          <a:lstStyle/>
          <a:p>
            <a:pPr marL="0" indent="0" algn="l">
              <a:buNone/>
            </a:pPr>
            <a:r>
              <a:rPr lang="en-US" sz="2200" b="1" dirty="0">
                <a:solidFill>
                  <a:srgbClr val="000000"/>
                </a:solidFill>
                <a:latin typeface="Arial" pitchFamily="34" charset="0"/>
                <a:ea typeface="Arial" pitchFamily="34" charset="-122"/>
                <a:cs typeface="Arial" pitchFamily="34" charset="-120"/>
              </a:rPr>
              <a:t>What kills this</a:t>
            </a:r>
            <a:endParaRPr lang="en-US" sz="2200" dirty="0"/>
          </a:p>
        </p:txBody>
      </p:sp>
      <p:sp>
        <p:nvSpPr>
          <p:cNvPr id="3" name="Text 1"/>
          <p:cNvSpPr txBox="1"/>
          <p:nvPr/>
        </p:nvSpPr>
        <p:spPr>
          <a:xfrm>
            <a:off x="548640" y="1097280"/>
            <a:ext cx="5396332" cy="237744"/>
          </a:xfrm>
          <a:prstGeom prst="rect">
            <a:avLst/>
          </a:prstGeom>
          <a:noFill/>
          <a:ln/>
        </p:spPr>
        <p:txBody>
          <a:bodyPr wrap="square" lIns="0" tIns="0" rIns="0" bIns="0" rtlCol="0" anchor="ctr"/>
          <a:lstStyle/>
          <a:p>
            <a:pPr marL="0" indent="0">
              <a:buNone/>
            </a:pPr>
            <a:r>
              <a:rPr lang="en-US" sz="900" b="1" kern="0" spc="150" dirty="0">
                <a:solidFill>
                  <a:srgbClr val="595959"/>
                </a:solidFill>
                <a:latin typeface="Arial" pitchFamily="34" charset="0"/>
                <a:ea typeface="Arial" pitchFamily="34" charset="-122"/>
                <a:cs typeface="Arial" pitchFamily="34" charset="-120"/>
              </a:rPr>
              <a:t>HIGHEST-SCORING RISKS — PROBABILITY × IMPACT</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89888"/>
          <a:ext cx="5394960" cy="3840480"/>
        </p:xfrm>
        <a:graphic>
          <a:graphicData uri="http://schemas.openxmlformats.org/drawingml/2006/table">
            <a:tbl>
              <a:tblPr/>
              <a:tblGrid>
                <a:gridCol w="187452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196596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tblGrid>
              <a:tr h="548640">
                <a:tc>
                  <a:txBody>
                    <a:bodyPr/>
                    <a:lstStyle/>
                    <a:p>
                      <a:pPr marL="0" indent="0" algn="l">
                        <a:buNone/>
                      </a:pPr>
                      <a:r>
                        <a:rPr lang="en-US" sz="1050" b="1" dirty="0">
                          <a:solidFill>
                            <a:srgbClr val="000000"/>
                          </a:solidFill>
                          <a:latin typeface="Arial" pitchFamily="34" charset="0"/>
                          <a:ea typeface="Arial" pitchFamily="34" charset="-122"/>
                          <a:cs typeface="Arial" pitchFamily="34" charset="-120"/>
                        </a:rPr>
                        <a:t>Risk</a:t>
                      </a:r>
                      <a:endParaRPr lang="en-US" sz="1050" dirty="0">
                        <a:latin typeface="Arial" charset="0"/>
                        <a:ea typeface="Arial" charset="0"/>
                        <a:cs typeface="Arial" charset="0"/>
                      </a:endParaRPr>
                    </a:p>
                  </a:txBody>
                  <a:tcPr marL="73152" marR="73152"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marL="0" indent="0" algn="r">
                        <a:buNone/>
                      </a:pPr>
                      <a:r>
                        <a:rPr lang="en-US" sz="1050" b="1" dirty="0">
                          <a:solidFill>
                            <a:srgbClr val="000000"/>
                          </a:solidFill>
                          <a:latin typeface="Arial" pitchFamily="34" charset="0"/>
                          <a:ea typeface="Arial" pitchFamily="34" charset="-122"/>
                          <a:cs typeface="Arial" pitchFamily="34" charset="-120"/>
                        </a:rPr>
                        <a:t>P×I</a:t>
                      </a:r>
                      <a:endParaRPr lang="en-US" sz="1050" dirty="0">
                        <a:latin typeface="Arial" charset="0"/>
                        <a:ea typeface="Arial" charset="0"/>
                        <a:cs typeface="Arial" charset="0"/>
                      </a:endParaRPr>
                    </a:p>
                  </a:txBody>
                  <a:tcPr marL="73152" marR="73152"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marL="0" indent="0" algn="l">
                        <a:buNone/>
                      </a:pPr>
                      <a:r>
                        <a:rPr lang="en-US" sz="1050" b="1" dirty="0">
                          <a:solidFill>
                            <a:srgbClr val="000000"/>
                          </a:solidFill>
                          <a:latin typeface="Arial" pitchFamily="34" charset="0"/>
                          <a:ea typeface="Arial" pitchFamily="34" charset="-122"/>
                          <a:cs typeface="Arial" pitchFamily="34" charset="-120"/>
                        </a:rPr>
                        <a:t>Early warning signal</a:t>
                      </a:r>
                      <a:endParaRPr lang="en-US" sz="1050" dirty="0">
                        <a:latin typeface="Arial" charset="0"/>
                        <a:ea typeface="Arial" charset="0"/>
                        <a:cs typeface="Arial" charset="0"/>
                      </a:endParaRPr>
                    </a:p>
                  </a:txBody>
                  <a:tcPr marL="73152" marR="73152"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marL="0" indent="0" algn="l">
                        <a:buNone/>
                      </a:pPr>
                      <a:r>
                        <a:rPr lang="en-US" sz="1050" b="1" dirty="0">
                          <a:solidFill>
                            <a:srgbClr val="000000"/>
                          </a:solidFill>
                          <a:latin typeface="Arial" pitchFamily="34" charset="0"/>
                          <a:ea typeface="Arial" pitchFamily="34" charset="-122"/>
                          <a:cs typeface="Arial" pitchFamily="34" charset="-120"/>
                        </a:rPr>
                        <a:t>Owner</a:t>
                      </a:r>
                      <a:endParaRPr lang="en-US" sz="1050" dirty="0">
                        <a:latin typeface="Arial" charset="0"/>
                        <a:ea typeface="Arial" charset="0"/>
                        <a:cs typeface="Arial" charset="0"/>
                      </a:endParaRPr>
                    </a:p>
                  </a:txBody>
                  <a:tcPr marL="73152" marR="73152"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548640">
                <a:tc>
                  <a:txBody>
                    <a:bodyPr/>
                    <a:lstStyle/>
                    <a:p>
                      <a:pPr marL="0" indent="0" algn="l">
                        <a:buNone/>
                      </a:pPr>
                      <a:r>
                        <a:rPr lang="en-US" sz="1050" dirty="0">
                          <a:solidFill>
                            <a:srgbClr val="000000"/>
                          </a:solidFill>
                          <a:latin typeface="Arial" pitchFamily="34" charset="0"/>
                          <a:ea typeface="Arial" pitchFamily="34" charset="-122"/>
                          <a:cs typeface="Arial" pitchFamily="34" charset="-120"/>
                        </a:rPr>
                        <a:t>User adoption failure</a:t>
                      </a:r>
                      <a:endParaRPr lang="en-US" sz="1050" dirty="0">
                        <a:latin typeface="Arial" charset="0"/>
                        <a:ea typeface="Arial" charset="0"/>
                        <a:cs typeface="Arial" charset="0"/>
                      </a:endParaRPr>
                    </a:p>
                  </a:txBody>
                  <a:tcPr marL="73152" marR="73152" anchor="ctr">
                    <a:lnL w="0" cap="flat" cmpd="sng" algn="ctr">
                      <a:noFill/>
                    </a:lnL>
                    <a:lnR w="0" cap="flat" cmpd="sng" algn="ctr">
                      <a:noFill/>
                    </a:lnR>
                    <a:lnT w="12700" cap="flat" cmpd="sng" algn="ctr">
                      <a:solidFill>
                        <a:srgbClr val="000000"/>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050" dirty="0">
                          <a:solidFill>
                            <a:srgbClr val="000000"/>
                          </a:solidFill>
                          <a:latin typeface="Arial" pitchFamily="34" charset="0"/>
                          <a:ea typeface="Arial" pitchFamily="34" charset="-122"/>
                          <a:cs typeface="Arial" pitchFamily="34" charset="-120"/>
                        </a:rPr>
                        <a:t>25</a:t>
                      </a:r>
                      <a:endParaRPr lang="en-US" sz="1050" dirty="0">
                        <a:latin typeface="Arial" charset="0"/>
                        <a:ea typeface="Arial" charset="0"/>
                        <a:cs typeface="Arial" charset="0"/>
                      </a:endParaRPr>
                    </a:p>
                  </a:txBody>
                  <a:tcPr marL="73152" marR="73152" anchor="ctr">
                    <a:lnL w="0" cap="flat" cmpd="sng" algn="ctr">
                      <a:noFill/>
                    </a:lnL>
                    <a:lnR w="0" cap="flat" cmpd="sng" algn="ctr">
                      <a:noFill/>
                    </a:lnR>
                    <a:lnT w="12700" cap="flat" cmpd="sng" algn="ctr">
                      <a:solidFill>
                        <a:srgbClr val="000000"/>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050" dirty="0">
                          <a:solidFill>
                            <a:srgbClr val="000000"/>
                          </a:solidFill>
                          <a:latin typeface="Arial" pitchFamily="34" charset="0"/>
                          <a:ea typeface="Arial" pitchFamily="34" charset="-122"/>
                          <a:cs typeface="Arial" pitchFamily="34" charset="-120"/>
                        </a:rPr>
                        <a:t>Operators revert to paper</a:t>
                      </a:r>
                      <a:endParaRPr lang="en-US" sz="1050" dirty="0">
                        <a:latin typeface="Arial" charset="0"/>
                        <a:ea typeface="Arial" charset="0"/>
                        <a:cs typeface="Arial" charset="0"/>
                      </a:endParaRPr>
                    </a:p>
                  </a:txBody>
                  <a:tcPr marL="73152" marR="73152" anchor="ctr">
                    <a:lnL w="0" cap="flat" cmpd="sng" algn="ctr">
                      <a:noFill/>
                    </a:lnL>
                    <a:lnR w="0" cap="flat" cmpd="sng" algn="ctr">
                      <a:noFill/>
                    </a:lnR>
                    <a:lnT w="12700" cap="flat" cmpd="sng" algn="ctr">
                      <a:solidFill>
                        <a:srgbClr val="000000"/>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050" dirty="0">
                          <a:solidFill>
                            <a:srgbClr val="000000"/>
                          </a:solidFill>
                          <a:latin typeface="Arial" pitchFamily="34" charset="0"/>
                          <a:ea typeface="Arial" pitchFamily="34" charset="-122"/>
                          <a:cs typeface="Arial" pitchFamily="34" charset="-120"/>
                        </a:rPr>
                        <a:t>CS / Product</a:t>
                      </a:r>
                      <a:endParaRPr lang="en-US" sz="1050" dirty="0">
                        <a:latin typeface="Arial" charset="0"/>
                        <a:ea typeface="Arial" charset="0"/>
                        <a:cs typeface="Arial" charset="0"/>
                      </a:endParaRPr>
                    </a:p>
                  </a:txBody>
                  <a:tcPr marL="73152" marR="73152" anchor="ctr">
                    <a:lnL w="0" cap="flat" cmpd="sng" algn="ctr">
                      <a:noFill/>
                    </a:lnL>
                    <a:lnR w="0" cap="flat" cmpd="sng" algn="ctr">
                      <a:noFill/>
                    </a:lnR>
                    <a:lnT w="12700" cap="flat" cmpd="sng" algn="ctr">
                      <a:solidFill>
                        <a:srgbClr val="000000"/>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lgn="l">
                        <a:buNone/>
                      </a:pPr>
                      <a:r>
                        <a:rPr lang="en-US" sz="1050" dirty="0">
                          <a:solidFill>
                            <a:srgbClr val="000000"/>
                          </a:solidFill>
                          <a:latin typeface="Arial" pitchFamily="34" charset="0"/>
                          <a:ea typeface="Arial" pitchFamily="34" charset="-122"/>
                          <a:cs typeface="Arial" pitchFamily="34" charset="-120"/>
                        </a:rPr>
                        <a:t>Poor product-market fit</a:t>
                      </a:r>
                      <a:endParaRPr lang="en-US" sz="10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050" dirty="0">
                          <a:solidFill>
                            <a:srgbClr val="000000"/>
                          </a:solidFill>
                          <a:latin typeface="Arial" pitchFamily="34" charset="0"/>
                          <a:ea typeface="Arial" pitchFamily="34" charset="-122"/>
                          <a:cs typeface="Arial" pitchFamily="34" charset="-120"/>
                        </a:rPr>
                        <a:t>20</a:t>
                      </a:r>
                      <a:endParaRPr lang="en-US" sz="10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050" dirty="0">
                          <a:solidFill>
                            <a:srgbClr val="000000"/>
                          </a:solidFill>
                          <a:latin typeface="Arial" pitchFamily="34" charset="0"/>
                          <a:ea typeface="Arial" pitchFamily="34" charset="-122"/>
                          <a:cs typeface="Arial" pitchFamily="34" charset="-120"/>
                        </a:rPr>
                        <a:t>Discovery finds no costly trigger</a:t>
                      </a:r>
                      <a:endParaRPr lang="en-US" sz="10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050" dirty="0">
                          <a:solidFill>
                            <a:srgbClr val="000000"/>
                          </a:solidFill>
                          <a:latin typeface="Arial" pitchFamily="34" charset="0"/>
                          <a:ea typeface="Arial" pitchFamily="34" charset="-122"/>
                          <a:cs typeface="Arial" pitchFamily="34" charset="-120"/>
                        </a:rPr>
                        <a:t>CEO / Product</a:t>
                      </a:r>
                      <a:endParaRPr lang="en-US" sz="10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0" indent="0" algn="l">
                        <a:buNone/>
                      </a:pPr>
                      <a:r>
                        <a:rPr lang="en-US" sz="1050" dirty="0">
                          <a:solidFill>
                            <a:srgbClr val="000000"/>
                          </a:solidFill>
                          <a:latin typeface="Arial" pitchFamily="34" charset="0"/>
                          <a:ea typeface="Arial" pitchFamily="34" charset="-122"/>
                          <a:cs typeface="Arial" pitchFamily="34" charset="-120"/>
                        </a:rPr>
                        <a:t>Low willingness to pay</a:t>
                      </a:r>
                      <a:endParaRPr lang="en-US" sz="10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050" dirty="0">
                          <a:solidFill>
                            <a:srgbClr val="000000"/>
                          </a:solidFill>
                          <a:latin typeface="Arial" pitchFamily="34" charset="0"/>
                          <a:ea typeface="Arial" pitchFamily="34" charset="-122"/>
                          <a:cs typeface="Arial" pitchFamily="34" charset="-120"/>
                        </a:rPr>
                        <a:t>20</a:t>
                      </a:r>
                      <a:endParaRPr lang="en-US" sz="10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050" dirty="0">
                          <a:solidFill>
                            <a:srgbClr val="000000"/>
                          </a:solidFill>
                          <a:latin typeface="Arial" pitchFamily="34" charset="0"/>
                          <a:ea typeface="Arial" pitchFamily="34" charset="-122"/>
                          <a:cs typeface="Arial" pitchFamily="34" charset="-120"/>
                        </a:rPr>
                        <a:t>Free interest, under 20% paid pilot</a:t>
                      </a:r>
                      <a:endParaRPr lang="en-US" sz="10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050" dirty="0">
                          <a:solidFill>
                            <a:srgbClr val="000000"/>
                          </a:solidFill>
                          <a:latin typeface="Arial" pitchFamily="34" charset="0"/>
                          <a:ea typeface="Arial" pitchFamily="34" charset="-122"/>
                          <a:cs typeface="Arial" pitchFamily="34" charset="-120"/>
                        </a:rPr>
                        <a:t>CEO</a:t>
                      </a:r>
                      <a:endParaRPr lang="en-US" sz="10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lgn="l">
                        <a:buNone/>
                      </a:pPr>
                      <a:r>
                        <a:rPr lang="en-US" sz="1050" dirty="0">
                          <a:solidFill>
                            <a:srgbClr val="000000"/>
                          </a:solidFill>
                          <a:latin typeface="Arial" pitchFamily="34" charset="0"/>
                          <a:ea typeface="Arial" pitchFamily="34" charset="-122"/>
                          <a:cs typeface="Arial" pitchFamily="34" charset="-120"/>
                        </a:rPr>
                        <a:t>Incorrect billing or financial data</a:t>
                      </a:r>
                      <a:endParaRPr lang="en-US" sz="10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050" dirty="0">
                          <a:solidFill>
                            <a:srgbClr val="000000"/>
                          </a:solidFill>
                          <a:latin typeface="Arial" pitchFamily="34" charset="0"/>
                          <a:ea typeface="Arial" pitchFamily="34" charset="-122"/>
                          <a:cs typeface="Arial" pitchFamily="34" charset="-120"/>
                        </a:rPr>
                        <a:t>20</a:t>
                      </a:r>
                      <a:endParaRPr lang="en-US" sz="10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050" dirty="0">
                          <a:solidFill>
                            <a:srgbClr val="000000"/>
                          </a:solidFill>
                          <a:latin typeface="Arial" pitchFamily="34" charset="0"/>
                          <a:ea typeface="Arial" pitchFamily="34" charset="-122"/>
                          <a:cs typeface="Arial" pitchFamily="34" charset="-120"/>
                        </a:rPr>
                        <a:t>Failed settlement parity</a:t>
                      </a:r>
                      <a:endParaRPr lang="en-US" sz="10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050" dirty="0">
                          <a:solidFill>
                            <a:srgbClr val="000000"/>
                          </a:solidFill>
                          <a:latin typeface="Arial" pitchFamily="34" charset="0"/>
                          <a:ea typeface="Arial" pitchFamily="34" charset="-122"/>
                          <a:cs typeface="Arial" pitchFamily="34" charset="-120"/>
                        </a:rPr>
                        <a:t>Finance / Eng</a:t>
                      </a:r>
                      <a:endParaRPr lang="en-US" sz="10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4"/>
                  </a:ext>
                </a:extLst>
              </a:tr>
              <a:tr h="548640">
                <a:tc>
                  <a:txBody>
                    <a:bodyPr/>
                    <a:lstStyle/>
                    <a:p>
                      <a:pPr marL="0" indent="0" algn="l">
                        <a:buNone/>
                      </a:pPr>
                      <a:r>
                        <a:rPr lang="en-US" sz="1050" dirty="0">
                          <a:solidFill>
                            <a:srgbClr val="000000"/>
                          </a:solidFill>
                          <a:latin typeface="Arial" pitchFamily="34" charset="0"/>
                          <a:ea typeface="Arial" pitchFamily="34" charset="-122"/>
                          <a:cs typeface="Arial" pitchFamily="34" charset="-120"/>
                        </a:rPr>
                        <a:t>EMR migration errors</a:t>
                      </a:r>
                      <a:endParaRPr lang="en-US" sz="10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050" dirty="0">
                          <a:solidFill>
                            <a:srgbClr val="000000"/>
                          </a:solidFill>
                          <a:latin typeface="Arial" pitchFamily="34" charset="0"/>
                          <a:ea typeface="Arial" pitchFamily="34" charset="-122"/>
                          <a:cs typeface="Arial" pitchFamily="34" charset="-120"/>
                        </a:rPr>
                        <a:t>20</a:t>
                      </a:r>
                      <a:endParaRPr lang="en-US" sz="10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050" dirty="0">
                          <a:solidFill>
                            <a:srgbClr val="000000"/>
                          </a:solidFill>
                          <a:latin typeface="Arial" pitchFamily="34" charset="0"/>
                          <a:ea typeface="Arial" pitchFamily="34" charset="-122"/>
                          <a:cs typeface="Arial" pitchFamily="34" charset="-120"/>
                        </a:rPr>
                        <a:t>Mismatch in sampled imported charts</a:t>
                      </a:r>
                      <a:endParaRPr lang="en-US" sz="10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050" dirty="0">
                          <a:solidFill>
                            <a:srgbClr val="000000"/>
                          </a:solidFill>
                          <a:latin typeface="Arial" pitchFamily="34" charset="0"/>
                          <a:ea typeface="Arial" pitchFamily="34" charset="-122"/>
                          <a:cs typeface="Arial" pitchFamily="34" charset="-120"/>
                        </a:rPr>
                        <a:t>Eng / Clinical</a:t>
                      </a:r>
                      <a:endParaRPr lang="en-US" sz="10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5"/>
                  </a:ext>
                </a:extLst>
              </a:tr>
              <a:tr h="548640">
                <a:tc>
                  <a:txBody>
                    <a:bodyPr/>
                    <a:lstStyle/>
                    <a:p>
                      <a:pPr marL="0" indent="0" algn="l">
                        <a:buNone/>
                      </a:pPr>
                      <a:r>
                        <a:rPr lang="en-US" sz="1050" dirty="0">
                          <a:solidFill>
                            <a:srgbClr val="000000"/>
                          </a:solidFill>
                          <a:latin typeface="Arial" pitchFamily="34" charset="0"/>
                          <a:ea typeface="Arial" pitchFamily="34" charset="-122"/>
                          <a:cs typeface="Arial" pitchFamily="34" charset="-120"/>
                        </a:rPr>
                        <a:t>Capital shortfall</a:t>
                      </a:r>
                      <a:endParaRPr lang="en-US" sz="10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050" dirty="0">
                          <a:solidFill>
                            <a:srgbClr val="000000"/>
                          </a:solidFill>
                          <a:latin typeface="Arial" pitchFamily="34" charset="0"/>
                          <a:ea typeface="Arial" pitchFamily="34" charset="-122"/>
                          <a:cs typeface="Arial" pitchFamily="34" charset="-120"/>
                        </a:rPr>
                        <a:t>20</a:t>
                      </a:r>
                      <a:endParaRPr lang="en-US" sz="10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050" dirty="0">
                          <a:solidFill>
                            <a:srgbClr val="000000"/>
                          </a:solidFill>
                          <a:latin typeface="Arial" pitchFamily="34" charset="0"/>
                          <a:ea typeface="Arial" pitchFamily="34" charset="-122"/>
                          <a:cs typeface="Arial" pitchFamily="34" charset="-120"/>
                        </a:rPr>
                        <a:t>Runway under 9 months</a:t>
                      </a:r>
                      <a:endParaRPr lang="en-US" sz="10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050" dirty="0">
                          <a:solidFill>
                            <a:srgbClr val="000000"/>
                          </a:solidFill>
                          <a:latin typeface="Arial" pitchFamily="34" charset="0"/>
                          <a:ea typeface="Arial" pitchFamily="34" charset="-122"/>
                          <a:cs typeface="Arial" pitchFamily="34" charset="-120"/>
                        </a:rPr>
                        <a:t>CFO</a:t>
                      </a:r>
                      <a:endParaRPr lang="en-US" sz="10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txBox="1"/>
          <p:nvPr/>
        </p:nvSpPr>
        <p:spPr>
          <a:xfrm>
            <a:off x="6246724" y="1097280"/>
            <a:ext cx="5396332" cy="237744"/>
          </a:xfrm>
          <a:prstGeom prst="rect">
            <a:avLst/>
          </a:prstGeom>
          <a:noFill/>
          <a:ln/>
        </p:spPr>
        <p:txBody>
          <a:bodyPr wrap="square" lIns="0" tIns="0" rIns="0" bIns="0" rtlCol="0" anchor="ctr"/>
          <a:lstStyle/>
          <a:p>
            <a:pPr marL="0" indent="0">
              <a:buNone/>
            </a:pPr>
            <a:r>
              <a:rPr lang="en-US" sz="900" b="1" kern="0" spc="150" dirty="0">
                <a:solidFill>
                  <a:srgbClr val="595959"/>
                </a:solidFill>
                <a:latin typeface="Arial" pitchFamily="34" charset="0"/>
                <a:ea typeface="Arial" pitchFamily="34" charset="-122"/>
                <a:cs typeface="Arial" pitchFamily="34" charset="-120"/>
              </a:rPr>
              <a:t>DECISION GATES — PASS OR THE PLAN CHANGES</a:t>
            </a:r>
            <a:endParaRPr lang="en-US" sz="90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6246724" y="1389888"/>
          <a:ext cx="5394960" cy="3840480"/>
        </p:xfrm>
        <a:graphic>
          <a:graphicData uri="http://schemas.openxmlformats.org/drawingml/2006/table">
            <a:tbl>
              <a:tblPr/>
              <a:tblGrid>
                <a:gridCol w="1005840">
                  <a:extLst>
                    <a:ext uri="{9D8B030D-6E8A-4147-A177-3AD203B41FA5}">
                      <a16:colId xmlns:a16="http://schemas.microsoft.com/office/drawing/2014/main" val="20000"/>
                    </a:ext>
                  </a:extLst>
                </a:gridCol>
                <a:gridCol w="288036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tblGrid>
              <a:tr h="768096">
                <a:tc>
                  <a:txBody>
                    <a:bodyPr/>
                    <a:lstStyle/>
                    <a:p>
                      <a:pPr marL="0" indent="0" algn="l">
                        <a:buNone/>
                      </a:pPr>
                      <a:r>
                        <a:rPr lang="en-US" sz="1050" b="1" dirty="0">
                          <a:solidFill>
                            <a:srgbClr val="000000"/>
                          </a:solidFill>
                          <a:latin typeface="Arial" pitchFamily="34" charset="0"/>
                          <a:ea typeface="Arial" pitchFamily="34" charset="-122"/>
                          <a:cs typeface="Arial" pitchFamily="34" charset="-120"/>
                        </a:rPr>
                        <a:t>Gate</a:t>
                      </a:r>
                      <a:endParaRPr lang="en-US" sz="1050" dirty="0">
                        <a:latin typeface="Arial" charset="0"/>
                        <a:ea typeface="Arial" charset="0"/>
                        <a:cs typeface="Arial" charset="0"/>
                      </a:endParaRPr>
                    </a:p>
                  </a:txBody>
                  <a:tcPr marL="73152" marR="73152"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marL="0" indent="0" algn="l">
                        <a:buNone/>
                      </a:pPr>
                      <a:r>
                        <a:rPr lang="en-US" sz="1050" b="1" dirty="0">
                          <a:solidFill>
                            <a:srgbClr val="000000"/>
                          </a:solidFill>
                          <a:latin typeface="Arial" pitchFamily="34" charset="0"/>
                          <a:ea typeface="Arial" pitchFamily="34" charset="-122"/>
                          <a:cs typeface="Arial" pitchFamily="34" charset="-120"/>
                        </a:rPr>
                        <a:t>Minimum proof</a:t>
                      </a:r>
                      <a:endParaRPr lang="en-US" sz="1050" dirty="0">
                        <a:latin typeface="Arial" charset="0"/>
                        <a:ea typeface="Arial" charset="0"/>
                        <a:cs typeface="Arial" charset="0"/>
                      </a:endParaRPr>
                    </a:p>
                  </a:txBody>
                  <a:tcPr marL="73152" marR="73152"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marL="0" indent="0" algn="l">
                        <a:buNone/>
                      </a:pPr>
                      <a:r>
                        <a:rPr lang="en-US" sz="1050" b="1" dirty="0">
                          <a:solidFill>
                            <a:srgbClr val="000000"/>
                          </a:solidFill>
                          <a:latin typeface="Arial" pitchFamily="34" charset="0"/>
                          <a:ea typeface="Arial" pitchFamily="34" charset="-122"/>
                          <a:cs typeface="Arial" pitchFamily="34" charset="-120"/>
                        </a:rPr>
                        <a:t>Action on failure</a:t>
                      </a:r>
                      <a:endParaRPr lang="en-US" sz="1050" dirty="0">
                        <a:latin typeface="Arial" charset="0"/>
                        <a:ea typeface="Arial" charset="0"/>
                        <a:cs typeface="Arial" charset="0"/>
                      </a:endParaRPr>
                    </a:p>
                  </a:txBody>
                  <a:tcPr marL="73152" marR="73152"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768096">
                <a:tc>
                  <a:txBody>
                    <a:bodyPr/>
                    <a:lstStyle/>
                    <a:p>
                      <a:pPr marL="0" indent="0" algn="l">
                        <a:buNone/>
                      </a:pPr>
                      <a:r>
                        <a:rPr lang="en-US" sz="1050" dirty="0">
                          <a:solidFill>
                            <a:srgbClr val="000000"/>
                          </a:solidFill>
                          <a:latin typeface="Arial" pitchFamily="34" charset="0"/>
                          <a:ea typeface="Arial" pitchFamily="34" charset="-122"/>
                          <a:cs typeface="Arial" pitchFamily="34" charset="-120"/>
                        </a:rPr>
                        <a:t>G1 · D30</a:t>
                      </a:r>
                      <a:endParaRPr lang="en-US" sz="1050" dirty="0">
                        <a:latin typeface="Arial" charset="0"/>
                        <a:ea typeface="Arial" charset="0"/>
                        <a:cs typeface="Arial" charset="0"/>
                      </a:endParaRPr>
                    </a:p>
                  </a:txBody>
                  <a:tcPr marL="73152" marR="73152" anchor="ctr">
                    <a:lnL w="0" cap="flat" cmpd="sng" algn="ctr">
                      <a:noFill/>
                    </a:lnL>
                    <a:lnR w="0" cap="flat" cmpd="sng" algn="ctr">
                      <a:noFill/>
                    </a:lnR>
                    <a:lnT w="12700" cap="flat" cmpd="sng" algn="ctr">
                      <a:solidFill>
                        <a:srgbClr val="000000"/>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050" dirty="0">
                          <a:solidFill>
                            <a:srgbClr val="000000"/>
                          </a:solidFill>
                          <a:latin typeface="Arial" pitchFamily="34" charset="0"/>
                          <a:ea typeface="Arial" pitchFamily="34" charset="-122"/>
                          <a:cs typeface="Arial" pitchFamily="34" charset="-120"/>
                        </a:rPr>
                        <a:t>30 interviews, 18 naming the same top-three pain with a quantified baseline</a:t>
                      </a:r>
                      <a:endParaRPr lang="en-US" sz="1050" dirty="0">
                        <a:latin typeface="Arial" charset="0"/>
                        <a:ea typeface="Arial" charset="0"/>
                        <a:cs typeface="Arial" charset="0"/>
                      </a:endParaRPr>
                    </a:p>
                  </a:txBody>
                  <a:tcPr marL="73152" marR="73152" anchor="ctr">
                    <a:lnL w="0" cap="flat" cmpd="sng" algn="ctr">
                      <a:noFill/>
                    </a:lnL>
                    <a:lnR w="0" cap="flat" cmpd="sng" algn="ctr">
                      <a:noFill/>
                    </a:lnR>
                    <a:lnT w="12700" cap="flat" cmpd="sng" algn="ctr">
                      <a:solidFill>
                        <a:srgbClr val="000000"/>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050" dirty="0">
                          <a:solidFill>
                            <a:srgbClr val="000000"/>
                          </a:solidFill>
                          <a:latin typeface="Arial" pitchFamily="34" charset="0"/>
                          <a:ea typeface="Arial" pitchFamily="34" charset="-122"/>
                          <a:cs typeface="Arial" pitchFamily="34" charset="-120"/>
                        </a:rPr>
                        <a:t>Narrow specialty or pivot</a:t>
                      </a:r>
                      <a:endParaRPr lang="en-US" sz="1050" dirty="0">
                        <a:latin typeface="Arial" charset="0"/>
                        <a:ea typeface="Arial" charset="0"/>
                        <a:cs typeface="Arial" charset="0"/>
                      </a:endParaRPr>
                    </a:p>
                  </a:txBody>
                  <a:tcPr marL="73152" marR="73152" anchor="ctr">
                    <a:lnL w="0" cap="flat" cmpd="sng" algn="ctr">
                      <a:noFill/>
                    </a:lnL>
                    <a:lnR w="0" cap="flat" cmpd="sng" algn="ctr">
                      <a:noFill/>
                    </a:lnR>
                    <a:lnT w="12700" cap="flat" cmpd="sng" algn="ctr">
                      <a:solidFill>
                        <a:srgbClr val="000000"/>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768096">
                <a:tc>
                  <a:txBody>
                    <a:bodyPr/>
                    <a:lstStyle/>
                    <a:p>
                      <a:pPr marL="0" indent="0" algn="l">
                        <a:buNone/>
                      </a:pPr>
                      <a:r>
                        <a:rPr lang="en-US" sz="1050" dirty="0">
                          <a:solidFill>
                            <a:srgbClr val="000000"/>
                          </a:solidFill>
                          <a:latin typeface="Arial" pitchFamily="34" charset="0"/>
                          <a:ea typeface="Arial" pitchFamily="34" charset="-122"/>
                          <a:cs typeface="Arial" pitchFamily="34" charset="-120"/>
                        </a:rPr>
                        <a:t>G2 · D45</a:t>
                      </a:r>
                      <a:endParaRPr lang="en-US" sz="10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050" dirty="0">
                          <a:solidFill>
                            <a:srgbClr val="000000"/>
                          </a:solidFill>
                          <a:latin typeface="Arial" pitchFamily="34" charset="0"/>
                          <a:ea typeface="Arial" pitchFamily="34" charset="-122"/>
                          <a:cs typeface="Arial" pitchFamily="34" charset="-120"/>
                        </a:rPr>
                        <a:t>10 signed paid pilot orders — not verbal LOIs</a:t>
                      </a:r>
                      <a:endParaRPr lang="en-US" sz="10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050" dirty="0">
                          <a:solidFill>
                            <a:srgbClr val="000000"/>
                          </a:solidFill>
                          <a:latin typeface="Arial" pitchFamily="34" charset="0"/>
                          <a:ea typeface="Arial" pitchFamily="34" charset="-122"/>
                          <a:cs typeface="Arial" pitchFamily="34" charset="-120"/>
                        </a:rPr>
                        <a:t>Pivot pricing or ICP</a:t>
                      </a:r>
                      <a:endParaRPr lang="en-US" sz="10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768096">
                <a:tc>
                  <a:txBody>
                    <a:bodyPr/>
                    <a:lstStyle/>
                    <a:p>
                      <a:pPr marL="0" indent="0" algn="l">
                        <a:buNone/>
                      </a:pPr>
                      <a:r>
                        <a:rPr lang="en-US" sz="1050" dirty="0">
                          <a:solidFill>
                            <a:srgbClr val="000000"/>
                          </a:solidFill>
                          <a:latin typeface="Arial" pitchFamily="34" charset="0"/>
                          <a:ea typeface="Arial" pitchFamily="34" charset="-122"/>
                          <a:cs typeface="Arial" pitchFamily="34" charset="-120"/>
                        </a:rPr>
                        <a:t>G3 · D60</a:t>
                      </a:r>
                      <a:endParaRPr lang="en-US" sz="10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050" dirty="0">
                          <a:solidFill>
                            <a:srgbClr val="000000"/>
                          </a:solidFill>
                          <a:latin typeface="Arial" pitchFamily="34" charset="0"/>
                          <a:ea typeface="Arial" pitchFamily="34" charset="-122"/>
                          <a:cs typeface="Arial" pitchFamily="34" charset="-120"/>
                        </a:rPr>
                        <a:t>80% of test users complete 3 critical tasks, zero P0 errors</a:t>
                      </a:r>
                      <a:endParaRPr lang="en-US" sz="10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050" dirty="0">
                          <a:solidFill>
                            <a:srgbClr val="000000"/>
                          </a:solidFill>
                          <a:latin typeface="Arial" pitchFamily="34" charset="0"/>
                          <a:ea typeface="Arial" pitchFamily="34" charset="-122"/>
                          <a:cs typeface="Arial" pitchFamily="34" charset="-120"/>
                        </a:rPr>
                        <a:t>Pause build</a:t>
                      </a:r>
                      <a:endParaRPr lang="en-US" sz="10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768096">
                <a:tc>
                  <a:txBody>
                    <a:bodyPr/>
                    <a:lstStyle/>
                    <a:p>
                      <a:pPr marL="0" indent="0" algn="l">
                        <a:buNone/>
                      </a:pPr>
                      <a:r>
                        <a:rPr lang="en-US" sz="1050" dirty="0">
                          <a:solidFill>
                            <a:srgbClr val="000000"/>
                          </a:solidFill>
                          <a:latin typeface="Arial" pitchFamily="34" charset="0"/>
                          <a:ea typeface="Arial" pitchFamily="34" charset="-122"/>
                          <a:cs typeface="Arial" pitchFamily="34" charset="-120"/>
                        </a:rPr>
                        <a:t>G4 · D90</a:t>
                      </a:r>
                      <a:endParaRPr lang="en-US" sz="10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050" dirty="0">
                          <a:solidFill>
                            <a:srgbClr val="000000"/>
                          </a:solidFill>
                          <a:latin typeface="Arial" pitchFamily="34" charset="0"/>
                          <a:ea typeface="Arial" pitchFamily="34" charset="-122"/>
                          <a:cs typeface="Arial" pitchFamily="34" charset="-120"/>
                        </a:rPr>
                        <a:t>10 truly paying accounts, 8 using it 3+ days a week, no data loss</a:t>
                      </a:r>
                      <a:endParaRPr lang="en-US" sz="10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050" dirty="0">
                          <a:solidFill>
                            <a:srgbClr val="000000"/>
                          </a:solidFill>
                          <a:latin typeface="Arial" pitchFamily="34" charset="0"/>
                          <a:ea typeface="Arial" pitchFamily="34" charset="-122"/>
                          <a:cs typeface="Arial" pitchFamily="34" charset="-120"/>
                        </a:rPr>
                        <a:t>Pause or stop after remedy</a:t>
                      </a:r>
                      <a:endParaRPr lang="en-US" sz="1050" dirty="0">
                        <a:latin typeface="Arial" charset="0"/>
                        <a:ea typeface="Arial" charset="0"/>
                        <a:cs typeface="Arial" charset="0"/>
                      </a:endParaRPr>
                    </a:p>
                  </a:txBody>
                  <a:tcPr marL="73152" marR="73152"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457200"/>
          </a:xfrm>
          <a:prstGeom prst="rect">
            <a:avLst/>
          </a:prstGeom>
          <a:noFill/>
          <a:ln/>
        </p:spPr>
        <p:txBody>
          <a:bodyPr wrap="square" lIns="0" tIns="0" rIns="0" bIns="0" rtlCol="0" anchor="ctr"/>
          <a:lstStyle/>
          <a:p>
            <a:pPr marL="0" indent="0" algn="l">
              <a:buNone/>
            </a:pPr>
            <a:r>
              <a:rPr lang="en-US" sz="2200" b="1" dirty="0">
                <a:solidFill>
                  <a:srgbClr val="000000"/>
                </a:solidFill>
                <a:latin typeface="Arial" pitchFamily="34" charset="0"/>
                <a:ea typeface="Arial" pitchFamily="34" charset="-122"/>
                <a:cs typeface="Arial" pitchFamily="34" charset="-120"/>
              </a:rPr>
              <a:t>What kills this</a:t>
            </a:r>
            <a:endParaRPr lang="en-US" sz="2200" dirty="0"/>
          </a:p>
        </p:txBody>
      </p:sp>
      <p:sp>
        <p:nvSpPr>
          <p:cNvPr id="3" name="Text 1"/>
          <p:cNvSpPr txBox="1"/>
          <p:nvPr/>
        </p:nvSpPr>
        <p:spPr>
          <a:xfrm>
            <a:off x="548640" y="1280160"/>
            <a:ext cx="7315200" cy="237744"/>
          </a:xfrm>
          <a:prstGeom prst="rect">
            <a:avLst/>
          </a:prstGeom>
          <a:noFill/>
          <a:ln/>
        </p:spPr>
        <p:txBody>
          <a:bodyPr wrap="square" lIns="0" tIns="0" rIns="0" bIns="0" rtlCol="0" anchor="ctr"/>
          <a:lstStyle/>
          <a:p>
            <a:pPr marL="0" indent="0">
              <a:buNone/>
            </a:pPr>
            <a:r>
              <a:rPr lang="en-US" sz="900" b="1" kern="0" spc="150" dirty="0">
                <a:solidFill>
                  <a:srgbClr val="595959"/>
                </a:solidFill>
                <a:latin typeface="Arial" pitchFamily="34" charset="0"/>
                <a:ea typeface="Arial" pitchFamily="34" charset="-122"/>
                <a:cs typeface="Arial" pitchFamily="34" charset="-120"/>
              </a:rPr>
              <a:t>THE 90-DAY FUNNEL — MODELLED, NOT A CALENDAR PROMISE</a:t>
            </a:r>
            <a:endParaRPr lang="en-US" sz="900" dirty="0"/>
          </a:p>
        </p:txBody>
      </p:sp>
      <p:sp>
        <p:nvSpPr>
          <p:cNvPr id="4" name="Shape 2"/>
          <p:cNvSpPr/>
          <p:nvPr/>
        </p:nvSpPr>
        <p:spPr>
          <a:xfrm>
            <a:off x="548640" y="1691640"/>
            <a:ext cx="1691640" cy="1783080"/>
          </a:xfrm>
          <a:prstGeom prst="rect">
            <a:avLst/>
          </a:prstGeom>
          <a:solidFill>
            <a:srgbClr val="FFFFFF"/>
          </a:solidFill>
          <a:ln w="9525">
            <a:solidFill>
              <a:srgbClr val="D9D9D9"/>
            </a:solidFill>
            <a:prstDash val="solid"/>
          </a:ln>
        </p:spPr>
      </p:sp>
      <p:sp>
        <p:nvSpPr>
          <p:cNvPr id="5" name="Text 3"/>
          <p:cNvSpPr txBox="1"/>
          <p:nvPr/>
        </p:nvSpPr>
        <p:spPr>
          <a:xfrm>
            <a:off x="548640" y="2084832"/>
            <a:ext cx="1691640" cy="475488"/>
          </a:xfrm>
          <a:prstGeom prst="rect">
            <a:avLst/>
          </a:prstGeom>
          <a:noFill/>
          <a:ln/>
        </p:spPr>
        <p:txBody>
          <a:bodyPr wrap="square" lIns="0" tIns="0" rIns="0" bIns="0" rtlCol="0" anchor="ctr"/>
          <a:lstStyle/>
          <a:p>
            <a:pPr marL="0" indent="0" algn="ctr">
              <a:buNone/>
            </a:pPr>
            <a:r>
              <a:rPr lang="en-US" sz="2400" b="1" dirty="0">
                <a:solidFill>
                  <a:srgbClr val="000000"/>
                </a:solidFill>
                <a:latin typeface="Arial" pitchFamily="34" charset="0"/>
                <a:ea typeface="Arial" pitchFamily="34" charset="-122"/>
                <a:cs typeface="Arial" pitchFamily="34" charset="-120"/>
              </a:rPr>
              <a:t>1,500</a:t>
            </a:r>
            <a:endParaRPr lang="en-US" sz="2400" dirty="0"/>
          </a:p>
        </p:txBody>
      </p:sp>
      <p:sp>
        <p:nvSpPr>
          <p:cNvPr id="6" name="Text 4"/>
          <p:cNvSpPr txBox="1"/>
          <p:nvPr/>
        </p:nvSpPr>
        <p:spPr>
          <a:xfrm>
            <a:off x="548640" y="2651760"/>
            <a:ext cx="1691640" cy="329184"/>
          </a:xfrm>
          <a:prstGeom prst="rect">
            <a:avLst/>
          </a:prstGeom>
          <a:noFill/>
          <a:ln/>
        </p:spPr>
        <p:txBody>
          <a:bodyPr wrap="square" lIns="0" tIns="0" rIns="0" bIns="0" rtlCol="0" anchor="ctr"/>
          <a:lstStyle/>
          <a:p>
            <a:pPr marL="0" indent="0" algn="ctr">
              <a:buNone/>
            </a:pPr>
            <a:r>
              <a:rPr lang="en-US" sz="1000" dirty="0">
                <a:solidFill>
                  <a:srgbClr val="595959"/>
                </a:solidFill>
                <a:latin typeface="Arial" pitchFamily="34" charset="0"/>
                <a:ea typeface="Arial" pitchFamily="34" charset="-122"/>
                <a:cs typeface="Arial" pitchFamily="34" charset="-120"/>
              </a:rPr>
              <a:t>Targeted outreach</a:t>
            </a:r>
            <a:endParaRPr lang="en-US" sz="1000" dirty="0"/>
          </a:p>
        </p:txBody>
      </p:sp>
      <p:sp>
        <p:nvSpPr>
          <p:cNvPr id="7" name="Text 5"/>
          <p:cNvSpPr txBox="1"/>
          <p:nvPr/>
        </p:nvSpPr>
        <p:spPr>
          <a:xfrm>
            <a:off x="2249424" y="2395728"/>
            <a:ext cx="192024" cy="310896"/>
          </a:xfrm>
          <a:prstGeom prst="rect">
            <a:avLst/>
          </a:prstGeom>
          <a:noFill/>
          <a:ln/>
        </p:spPr>
        <p:txBody>
          <a:bodyPr wrap="square" lIns="0" tIns="0" rIns="0" bIns="0" rtlCol="0" anchor="ctr"/>
          <a:lstStyle/>
          <a:p>
            <a:pPr marL="0" indent="0" algn="ctr">
              <a:buNone/>
            </a:pPr>
            <a:r>
              <a:rPr lang="en-US" sz="1700" dirty="0">
                <a:solidFill>
                  <a:srgbClr val="808080"/>
                </a:solidFill>
                <a:latin typeface="Arial" pitchFamily="34" charset="0"/>
                <a:ea typeface="Arial" pitchFamily="34" charset="-122"/>
                <a:cs typeface="Arial" pitchFamily="34" charset="-120"/>
              </a:rPr>
              <a:t>›</a:t>
            </a:r>
            <a:endParaRPr lang="en-US" sz="1700" dirty="0"/>
          </a:p>
        </p:txBody>
      </p:sp>
      <p:sp>
        <p:nvSpPr>
          <p:cNvPr id="8" name="Shape 6"/>
          <p:cNvSpPr/>
          <p:nvPr/>
        </p:nvSpPr>
        <p:spPr>
          <a:xfrm>
            <a:off x="2441448" y="1691640"/>
            <a:ext cx="1691640" cy="1783080"/>
          </a:xfrm>
          <a:prstGeom prst="rect">
            <a:avLst/>
          </a:prstGeom>
          <a:solidFill>
            <a:srgbClr val="FFFFFF"/>
          </a:solidFill>
          <a:ln w="9525">
            <a:solidFill>
              <a:srgbClr val="D9D9D9"/>
            </a:solidFill>
            <a:prstDash val="solid"/>
          </a:ln>
        </p:spPr>
      </p:sp>
      <p:sp>
        <p:nvSpPr>
          <p:cNvPr id="9" name="Text 7"/>
          <p:cNvSpPr txBox="1"/>
          <p:nvPr/>
        </p:nvSpPr>
        <p:spPr>
          <a:xfrm>
            <a:off x="2441448" y="2084832"/>
            <a:ext cx="1691640" cy="475488"/>
          </a:xfrm>
          <a:prstGeom prst="rect">
            <a:avLst/>
          </a:prstGeom>
          <a:noFill/>
          <a:ln/>
        </p:spPr>
        <p:txBody>
          <a:bodyPr wrap="square" lIns="0" tIns="0" rIns="0" bIns="0" rtlCol="0" anchor="ctr"/>
          <a:lstStyle/>
          <a:p>
            <a:pPr marL="0" indent="0" algn="ctr">
              <a:buNone/>
            </a:pPr>
            <a:r>
              <a:rPr lang="en-US" sz="2400" b="1" dirty="0">
                <a:solidFill>
                  <a:srgbClr val="000000"/>
                </a:solidFill>
                <a:latin typeface="Arial" pitchFamily="34" charset="0"/>
                <a:ea typeface="Arial" pitchFamily="34" charset="-122"/>
                <a:cs typeface="Arial" pitchFamily="34" charset="-120"/>
              </a:rPr>
              <a:t>240</a:t>
            </a:r>
            <a:endParaRPr lang="en-US" sz="2400" dirty="0"/>
          </a:p>
        </p:txBody>
      </p:sp>
      <p:sp>
        <p:nvSpPr>
          <p:cNvPr id="10" name="Text 8"/>
          <p:cNvSpPr txBox="1"/>
          <p:nvPr/>
        </p:nvSpPr>
        <p:spPr>
          <a:xfrm>
            <a:off x="2441448" y="2651760"/>
            <a:ext cx="1691640" cy="329184"/>
          </a:xfrm>
          <a:prstGeom prst="rect">
            <a:avLst/>
          </a:prstGeom>
          <a:noFill/>
          <a:ln/>
        </p:spPr>
        <p:txBody>
          <a:bodyPr wrap="square" lIns="0" tIns="0" rIns="0" bIns="0" rtlCol="0" anchor="ctr"/>
          <a:lstStyle/>
          <a:p>
            <a:pPr marL="0" indent="0" algn="ctr">
              <a:buNone/>
            </a:pPr>
            <a:r>
              <a:rPr lang="en-US" sz="1000" dirty="0">
                <a:solidFill>
                  <a:srgbClr val="595959"/>
                </a:solidFill>
                <a:latin typeface="Arial" pitchFamily="34" charset="0"/>
                <a:ea typeface="Arial" pitchFamily="34" charset="-122"/>
                <a:cs typeface="Arial" pitchFamily="34" charset="-120"/>
              </a:rPr>
              <a:t>Owner meetings</a:t>
            </a:r>
            <a:endParaRPr lang="en-US" sz="1000" dirty="0"/>
          </a:p>
        </p:txBody>
      </p:sp>
      <p:sp>
        <p:nvSpPr>
          <p:cNvPr id="11" name="Text 9"/>
          <p:cNvSpPr txBox="1"/>
          <p:nvPr/>
        </p:nvSpPr>
        <p:spPr>
          <a:xfrm>
            <a:off x="4142232" y="2395728"/>
            <a:ext cx="192024" cy="310896"/>
          </a:xfrm>
          <a:prstGeom prst="rect">
            <a:avLst/>
          </a:prstGeom>
          <a:noFill/>
          <a:ln/>
        </p:spPr>
        <p:txBody>
          <a:bodyPr wrap="square" lIns="0" tIns="0" rIns="0" bIns="0" rtlCol="0" anchor="ctr"/>
          <a:lstStyle/>
          <a:p>
            <a:pPr marL="0" indent="0" algn="ctr">
              <a:buNone/>
            </a:pPr>
            <a:r>
              <a:rPr lang="en-US" sz="1700" dirty="0">
                <a:solidFill>
                  <a:srgbClr val="808080"/>
                </a:solidFill>
                <a:latin typeface="Arial" pitchFamily="34" charset="0"/>
                <a:ea typeface="Arial" pitchFamily="34" charset="-122"/>
                <a:cs typeface="Arial" pitchFamily="34" charset="-120"/>
              </a:rPr>
              <a:t>›</a:t>
            </a:r>
            <a:endParaRPr lang="en-US" sz="1700" dirty="0"/>
          </a:p>
        </p:txBody>
      </p:sp>
      <p:sp>
        <p:nvSpPr>
          <p:cNvPr id="12" name="Shape 10"/>
          <p:cNvSpPr/>
          <p:nvPr/>
        </p:nvSpPr>
        <p:spPr>
          <a:xfrm>
            <a:off x="4334256" y="1691640"/>
            <a:ext cx="1691640" cy="1783080"/>
          </a:xfrm>
          <a:prstGeom prst="rect">
            <a:avLst/>
          </a:prstGeom>
          <a:solidFill>
            <a:srgbClr val="FFFFFF"/>
          </a:solidFill>
          <a:ln w="9525">
            <a:solidFill>
              <a:srgbClr val="D9D9D9"/>
            </a:solidFill>
            <a:prstDash val="solid"/>
          </a:ln>
        </p:spPr>
      </p:sp>
      <p:sp>
        <p:nvSpPr>
          <p:cNvPr id="13" name="Text 11"/>
          <p:cNvSpPr txBox="1"/>
          <p:nvPr/>
        </p:nvSpPr>
        <p:spPr>
          <a:xfrm>
            <a:off x="4334256" y="2084832"/>
            <a:ext cx="1691640" cy="475488"/>
          </a:xfrm>
          <a:prstGeom prst="rect">
            <a:avLst/>
          </a:prstGeom>
          <a:noFill/>
          <a:ln/>
        </p:spPr>
        <p:txBody>
          <a:bodyPr wrap="square" lIns="0" tIns="0" rIns="0" bIns="0" rtlCol="0" anchor="ctr"/>
          <a:lstStyle/>
          <a:p>
            <a:pPr marL="0" indent="0" algn="ctr">
              <a:buNone/>
            </a:pPr>
            <a:r>
              <a:rPr lang="en-US" sz="2400" b="1" dirty="0">
                <a:solidFill>
                  <a:srgbClr val="000000"/>
                </a:solidFill>
                <a:latin typeface="Arial" pitchFamily="34" charset="0"/>
                <a:ea typeface="Arial" pitchFamily="34" charset="-122"/>
                <a:cs typeface="Arial" pitchFamily="34" charset="-120"/>
              </a:rPr>
              <a:t>156</a:t>
            </a:r>
            <a:endParaRPr lang="en-US" sz="2400" dirty="0"/>
          </a:p>
        </p:txBody>
      </p:sp>
      <p:sp>
        <p:nvSpPr>
          <p:cNvPr id="14" name="Text 12"/>
          <p:cNvSpPr txBox="1"/>
          <p:nvPr/>
        </p:nvSpPr>
        <p:spPr>
          <a:xfrm>
            <a:off x="4334256" y="2651760"/>
            <a:ext cx="1691640" cy="329184"/>
          </a:xfrm>
          <a:prstGeom prst="rect">
            <a:avLst/>
          </a:prstGeom>
          <a:noFill/>
          <a:ln/>
        </p:spPr>
        <p:txBody>
          <a:bodyPr wrap="square" lIns="0" tIns="0" rIns="0" bIns="0" rtlCol="0" anchor="ctr"/>
          <a:lstStyle/>
          <a:p>
            <a:pPr marL="0" indent="0" algn="ctr">
              <a:buNone/>
            </a:pPr>
            <a:r>
              <a:rPr lang="en-US" sz="1000" dirty="0">
                <a:solidFill>
                  <a:srgbClr val="595959"/>
                </a:solidFill>
                <a:latin typeface="Arial" pitchFamily="34" charset="0"/>
                <a:ea typeface="Arial" pitchFamily="34" charset="-122"/>
                <a:cs typeface="Arial" pitchFamily="34" charset="-120"/>
              </a:rPr>
              <a:t>Demos</a:t>
            </a:r>
            <a:endParaRPr lang="en-US" sz="1000" dirty="0"/>
          </a:p>
        </p:txBody>
      </p:sp>
      <p:sp>
        <p:nvSpPr>
          <p:cNvPr id="15" name="Text 13"/>
          <p:cNvSpPr txBox="1"/>
          <p:nvPr/>
        </p:nvSpPr>
        <p:spPr>
          <a:xfrm>
            <a:off x="6035040" y="2395728"/>
            <a:ext cx="192024" cy="310896"/>
          </a:xfrm>
          <a:prstGeom prst="rect">
            <a:avLst/>
          </a:prstGeom>
          <a:noFill/>
          <a:ln/>
        </p:spPr>
        <p:txBody>
          <a:bodyPr wrap="square" lIns="0" tIns="0" rIns="0" bIns="0" rtlCol="0" anchor="ctr"/>
          <a:lstStyle/>
          <a:p>
            <a:pPr marL="0" indent="0" algn="ctr">
              <a:buNone/>
            </a:pPr>
            <a:r>
              <a:rPr lang="en-US" sz="1700" dirty="0">
                <a:solidFill>
                  <a:srgbClr val="808080"/>
                </a:solidFill>
                <a:latin typeface="Arial" pitchFamily="34" charset="0"/>
                <a:ea typeface="Arial" pitchFamily="34" charset="-122"/>
                <a:cs typeface="Arial" pitchFamily="34" charset="-120"/>
              </a:rPr>
              <a:t>›</a:t>
            </a:r>
            <a:endParaRPr lang="en-US" sz="1700" dirty="0"/>
          </a:p>
        </p:txBody>
      </p:sp>
      <p:sp>
        <p:nvSpPr>
          <p:cNvPr id="16" name="Shape 14"/>
          <p:cNvSpPr/>
          <p:nvPr/>
        </p:nvSpPr>
        <p:spPr>
          <a:xfrm>
            <a:off x="6227064" y="1691640"/>
            <a:ext cx="1691640" cy="1783080"/>
          </a:xfrm>
          <a:prstGeom prst="rect">
            <a:avLst/>
          </a:prstGeom>
          <a:solidFill>
            <a:srgbClr val="FFFFFF"/>
          </a:solidFill>
          <a:ln w="9525">
            <a:solidFill>
              <a:srgbClr val="D9D9D9"/>
            </a:solidFill>
            <a:prstDash val="solid"/>
          </a:ln>
        </p:spPr>
      </p:sp>
      <p:sp>
        <p:nvSpPr>
          <p:cNvPr id="17" name="Text 15"/>
          <p:cNvSpPr txBox="1"/>
          <p:nvPr/>
        </p:nvSpPr>
        <p:spPr>
          <a:xfrm>
            <a:off x="6227064" y="2084832"/>
            <a:ext cx="1691640" cy="475488"/>
          </a:xfrm>
          <a:prstGeom prst="rect">
            <a:avLst/>
          </a:prstGeom>
          <a:noFill/>
          <a:ln/>
        </p:spPr>
        <p:txBody>
          <a:bodyPr wrap="square" lIns="0" tIns="0" rIns="0" bIns="0" rtlCol="0" anchor="ctr"/>
          <a:lstStyle/>
          <a:p>
            <a:pPr marL="0" indent="0" algn="ctr">
              <a:buNone/>
            </a:pPr>
            <a:r>
              <a:rPr lang="en-US" sz="2400" b="1" dirty="0">
                <a:solidFill>
                  <a:srgbClr val="000000"/>
                </a:solidFill>
                <a:latin typeface="Arial" pitchFamily="34" charset="0"/>
                <a:ea typeface="Arial" pitchFamily="34" charset="-122"/>
                <a:cs typeface="Arial" pitchFamily="34" charset="-120"/>
              </a:rPr>
              <a:t>70</a:t>
            </a:r>
            <a:endParaRPr lang="en-US" sz="2400" dirty="0"/>
          </a:p>
        </p:txBody>
      </p:sp>
      <p:sp>
        <p:nvSpPr>
          <p:cNvPr id="18" name="Text 16"/>
          <p:cNvSpPr txBox="1"/>
          <p:nvPr/>
        </p:nvSpPr>
        <p:spPr>
          <a:xfrm>
            <a:off x="6227064" y="2651760"/>
            <a:ext cx="1691640" cy="329184"/>
          </a:xfrm>
          <a:prstGeom prst="rect">
            <a:avLst/>
          </a:prstGeom>
          <a:noFill/>
          <a:ln/>
        </p:spPr>
        <p:txBody>
          <a:bodyPr wrap="square" lIns="0" tIns="0" rIns="0" bIns="0" rtlCol="0" anchor="ctr"/>
          <a:lstStyle/>
          <a:p>
            <a:pPr marL="0" indent="0" algn="ctr">
              <a:buNone/>
            </a:pPr>
            <a:r>
              <a:rPr lang="en-US" sz="1000" dirty="0">
                <a:solidFill>
                  <a:srgbClr val="595959"/>
                </a:solidFill>
                <a:latin typeface="Arial" pitchFamily="34" charset="0"/>
                <a:ea typeface="Arial" pitchFamily="34" charset="-122"/>
                <a:cs typeface="Arial" pitchFamily="34" charset="-120"/>
              </a:rPr>
              <a:t>Activated pilots</a:t>
            </a:r>
            <a:endParaRPr lang="en-US" sz="1000" dirty="0"/>
          </a:p>
        </p:txBody>
      </p:sp>
      <p:sp>
        <p:nvSpPr>
          <p:cNvPr id="19" name="Text 17"/>
          <p:cNvSpPr txBox="1"/>
          <p:nvPr/>
        </p:nvSpPr>
        <p:spPr>
          <a:xfrm>
            <a:off x="7927848" y="2395728"/>
            <a:ext cx="192024" cy="310896"/>
          </a:xfrm>
          <a:prstGeom prst="rect">
            <a:avLst/>
          </a:prstGeom>
          <a:noFill/>
          <a:ln/>
        </p:spPr>
        <p:txBody>
          <a:bodyPr wrap="square" lIns="0" tIns="0" rIns="0" bIns="0" rtlCol="0" anchor="ctr"/>
          <a:lstStyle/>
          <a:p>
            <a:pPr marL="0" indent="0" algn="ctr">
              <a:buNone/>
            </a:pPr>
            <a:r>
              <a:rPr lang="en-US" sz="1700" dirty="0">
                <a:solidFill>
                  <a:srgbClr val="808080"/>
                </a:solidFill>
                <a:latin typeface="Arial" pitchFamily="34" charset="0"/>
                <a:ea typeface="Arial" pitchFamily="34" charset="-122"/>
                <a:cs typeface="Arial" pitchFamily="34" charset="-120"/>
              </a:rPr>
              <a:t>›</a:t>
            </a:r>
            <a:endParaRPr lang="en-US" sz="1700" dirty="0"/>
          </a:p>
        </p:txBody>
      </p:sp>
      <p:sp>
        <p:nvSpPr>
          <p:cNvPr id="20" name="Shape 18"/>
          <p:cNvSpPr/>
          <p:nvPr/>
        </p:nvSpPr>
        <p:spPr>
          <a:xfrm>
            <a:off x="8119872" y="1691640"/>
            <a:ext cx="1691640" cy="1783080"/>
          </a:xfrm>
          <a:prstGeom prst="rect">
            <a:avLst/>
          </a:prstGeom>
          <a:solidFill>
            <a:srgbClr val="FFFFFF"/>
          </a:solidFill>
          <a:ln w="9525">
            <a:solidFill>
              <a:srgbClr val="D9D9D9"/>
            </a:solidFill>
            <a:prstDash val="solid"/>
          </a:ln>
        </p:spPr>
      </p:sp>
      <p:sp>
        <p:nvSpPr>
          <p:cNvPr id="21" name="Text 19"/>
          <p:cNvSpPr txBox="1"/>
          <p:nvPr/>
        </p:nvSpPr>
        <p:spPr>
          <a:xfrm>
            <a:off x="8119872" y="2084832"/>
            <a:ext cx="1691640" cy="475488"/>
          </a:xfrm>
          <a:prstGeom prst="rect">
            <a:avLst/>
          </a:prstGeom>
          <a:noFill/>
          <a:ln/>
        </p:spPr>
        <p:txBody>
          <a:bodyPr wrap="square" lIns="0" tIns="0" rIns="0" bIns="0" rtlCol="0" anchor="ctr"/>
          <a:lstStyle/>
          <a:p>
            <a:pPr marL="0" indent="0" algn="ctr">
              <a:buNone/>
            </a:pPr>
            <a:r>
              <a:rPr lang="en-US" sz="2400" b="1" dirty="0">
                <a:solidFill>
                  <a:srgbClr val="000000"/>
                </a:solidFill>
                <a:latin typeface="Arial" pitchFamily="34" charset="0"/>
                <a:ea typeface="Arial" pitchFamily="34" charset="-122"/>
                <a:cs typeface="Arial" pitchFamily="34" charset="-120"/>
              </a:rPr>
              <a:t>30</a:t>
            </a:r>
            <a:endParaRPr lang="en-US" sz="2400" dirty="0"/>
          </a:p>
        </p:txBody>
      </p:sp>
      <p:sp>
        <p:nvSpPr>
          <p:cNvPr id="22" name="Text 20"/>
          <p:cNvSpPr txBox="1"/>
          <p:nvPr/>
        </p:nvSpPr>
        <p:spPr>
          <a:xfrm>
            <a:off x="8119872" y="2651760"/>
            <a:ext cx="1691640" cy="329184"/>
          </a:xfrm>
          <a:prstGeom prst="rect">
            <a:avLst/>
          </a:prstGeom>
          <a:noFill/>
          <a:ln/>
        </p:spPr>
        <p:txBody>
          <a:bodyPr wrap="square" lIns="0" tIns="0" rIns="0" bIns="0" rtlCol="0" anchor="ctr"/>
          <a:lstStyle/>
          <a:p>
            <a:pPr marL="0" indent="0" algn="ctr">
              <a:buNone/>
            </a:pPr>
            <a:r>
              <a:rPr lang="en-US" sz="1000" dirty="0">
                <a:solidFill>
                  <a:srgbClr val="595959"/>
                </a:solidFill>
                <a:latin typeface="Arial" pitchFamily="34" charset="0"/>
                <a:ea typeface="Arial" pitchFamily="34" charset="-122"/>
                <a:cs typeface="Arial" pitchFamily="34" charset="-120"/>
              </a:rPr>
              <a:t>Paying accounts</a:t>
            </a:r>
            <a:endParaRPr lang="en-US" sz="1000" dirty="0"/>
          </a:p>
        </p:txBody>
      </p:sp>
      <p:sp>
        <p:nvSpPr>
          <p:cNvPr id="23" name="Shape 21"/>
          <p:cNvSpPr/>
          <p:nvPr/>
        </p:nvSpPr>
        <p:spPr>
          <a:xfrm>
            <a:off x="10058400" y="1691640"/>
            <a:ext cx="1584655" cy="1783080"/>
          </a:xfrm>
          <a:prstGeom prst="rect">
            <a:avLst/>
          </a:prstGeom>
          <a:solidFill>
            <a:srgbClr val="F2F2F2"/>
          </a:solidFill>
          <a:ln/>
        </p:spPr>
      </p:sp>
      <p:sp>
        <p:nvSpPr>
          <p:cNvPr id="24" name="Text 22"/>
          <p:cNvSpPr txBox="1"/>
          <p:nvPr/>
        </p:nvSpPr>
        <p:spPr>
          <a:xfrm>
            <a:off x="10058400" y="2084832"/>
            <a:ext cx="1584655" cy="475488"/>
          </a:xfrm>
          <a:prstGeom prst="rect">
            <a:avLst/>
          </a:prstGeom>
          <a:noFill/>
          <a:ln/>
        </p:spPr>
        <p:txBody>
          <a:bodyPr wrap="square" lIns="0" tIns="0" rIns="0" bIns="0" rtlCol="0" anchor="ctr"/>
          <a:lstStyle/>
          <a:p>
            <a:pPr marL="0" indent="0" algn="ctr">
              <a:buNone/>
            </a:pPr>
            <a:r>
              <a:rPr lang="en-US" sz="2200" b="1" dirty="0">
                <a:solidFill>
                  <a:srgbClr val="000000"/>
                </a:solidFill>
                <a:latin typeface="Arial" pitchFamily="34" charset="0"/>
                <a:ea typeface="Arial" pitchFamily="34" charset="-122"/>
                <a:cs typeface="Arial" pitchFamily="34" charset="-120"/>
              </a:rPr>
              <a:t>₹5.40L</a:t>
            </a:r>
            <a:endParaRPr lang="en-US" sz="2200" dirty="0"/>
          </a:p>
        </p:txBody>
      </p:sp>
      <p:sp>
        <p:nvSpPr>
          <p:cNvPr id="25" name="Text 23"/>
          <p:cNvSpPr txBox="1"/>
          <p:nvPr/>
        </p:nvSpPr>
        <p:spPr>
          <a:xfrm>
            <a:off x="10058400" y="2651760"/>
            <a:ext cx="1584655" cy="329184"/>
          </a:xfrm>
          <a:prstGeom prst="rect">
            <a:avLst/>
          </a:prstGeom>
          <a:noFill/>
          <a:ln/>
        </p:spPr>
        <p:txBody>
          <a:bodyPr wrap="square" lIns="0" tIns="0" rIns="0" bIns="0" rtlCol="0" anchor="ctr"/>
          <a:lstStyle/>
          <a:p>
            <a:pPr marL="0" indent="0" algn="ctr">
              <a:buNone/>
            </a:pPr>
            <a:r>
              <a:rPr lang="en-US" sz="1000" dirty="0">
                <a:solidFill>
                  <a:srgbClr val="595959"/>
                </a:solidFill>
                <a:latin typeface="Arial" pitchFamily="34" charset="0"/>
                <a:ea typeface="Arial" pitchFamily="34" charset="-122"/>
                <a:cs typeface="Arial" pitchFamily="34" charset="-120"/>
              </a:rPr>
              <a:t>90-day CAC spend</a:t>
            </a:r>
            <a:endParaRPr lang="en-US" sz="1000" dirty="0"/>
          </a:p>
        </p:txBody>
      </p:sp>
      <p:sp>
        <p:nvSpPr>
          <p:cNvPr id="26" name="Shape 24"/>
          <p:cNvSpPr/>
          <p:nvPr/>
        </p:nvSpPr>
        <p:spPr>
          <a:xfrm>
            <a:off x="548640" y="4069080"/>
            <a:ext cx="11094415" cy="1645920"/>
          </a:xfrm>
          <a:prstGeom prst="rect">
            <a:avLst/>
          </a:prstGeom>
          <a:solidFill>
            <a:srgbClr val="F2F2F2"/>
          </a:solidFill>
          <a:ln/>
        </p:spPr>
      </p:sp>
      <p:sp>
        <p:nvSpPr>
          <p:cNvPr id="27" name="Text 25"/>
          <p:cNvSpPr txBox="1"/>
          <p:nvPr/>
        </p:nvSpPr>
        <p:spPr>
          <a:xfrm>
            <a:off x="777240" y="4343400"/>
            <a:ext cx="10637215" cy="1143000"/>
          </a:xfrm>
          <a:prstGeom prst="rect">
            <a:avLst/>
          </a:prstGeom>
          <a:noFill/>
          <a:ln/>
        </p:spPr>
        <p:txBody>
          <a:bodyPr wrap="square" lIns="0" tIns="0" rIns="0" bIns="0" rtlCol="0" anchor="ctr"/>
          <a:lstStyle/>
          <a:p>
            <a:pPr marL="0" indent="0">
              <a:lnSpc>
                <a:spcPct val="130000"/>
              </a:lnSpc>
              <a:buNone/>
            </a:pPr>
            <a:r>
              <a:rPr lang="en-US" sz="1250" b="1" dirty="0">
                <a:solidFill>
                  <a:srgbClr val="000000"/>
                </a:solidFill>
                <a:latin typeface="Arial" pitchFamily="34" charset="0"/>
                <a:ea typeface="Arial" pitchFamily="34" charset="-122"/>
                <a:cs typeface="Arial" pitchFamily="34" charset="-120"/>
              </a:rPr>
              <a:t>Stop signal:  </a:t>
            </a:r>
            <a:r>
              <a:rPr lang="en-US" sz="1250" dirty="0">
                <a:solidFill>
                  <a:srgbClr val="000000"/>
                </a:solidFill>
                <a:latin typeface="Arial" pitchFamily="34" charset="0"/>
                <a:ea typeface="Arial" pitchFamily="34" charset="-122"/>
                <a:cs typeface="Arial" pitchFamily="34" charset="-120"/>
              </a:rPr>
              <a:t>two credible paid experiments fail G2 or G4 even after one narrow product pivot, or the product cannot safely reconcile medical and billing records. Ten paying facilities whose financial source data can be inspected matter more than a thousand demo views. A customer is a signed account with collected, non-refundable payment — never a verbal intent or a free trial.</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1108</Words>
  <Application>Microsoft Office PowerPoint</Application>
  <PresentationFormat>Widescreen</PresentationFormat>
  <Paragraphs>244</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The decision, in one page</vt:lpstr>
      <vt:lpstr>The big market number is not the investable one</vt:lpstr>
      <vt:lpstr>The category is crowded, mature and already priced</vt:lpstr>
      <vt:lpstr>Product choice is settled; the economics are not</vt:lpstr>
      <vt:lpstr>Product choice is settled; the economics are not</vt:lpstr>
      <vt:lpstr>What kills this</vt:lpstr>
      <vt:lpstr>What kills this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MEDOS | India Healthcare Software - Investment and Build Decision</dc:title>
  <dc:subject>Investment research, competitive intelligence, 90-day validation plan</dc:subject>
  <dc:creator>Chetan Jadhav</dc:creator>
  <cp:lastModifiedBy>Chetan</cp:lastModifiedBy>
  <cp:revision>2</cp:revision>
  <dcterms:created xsi:type="dcterms:W3CDTF">2026-10-16T03:31:56Z</dcterms:created>
  <dcterms:modified xsi:type="dcterms:W3CDTF">2026-10-16T03:34:05Z</dcterms:modified>
</cp:coreProperties>
</file>